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E500"/>
                </a:solidFill>
              </a:defRPr>
            </a:pPr>
            <a:r>
              <a:t>EY Onboarding AI</a:t>
            </a:r>
          </a:p>
          <a:p>
            <a:pPr>
              <a:defRPr sz="3200">
                <a:solidFill>
                  <a:srgbClr val="FFFFFF"/>
                </a:solidFill>
              </a:defRPr>
            </a:pPr>
            <a:r>
              <a:t>UI 配色优化报告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配色方案: Red (#E00033) -&gt; EY Yellow (#FFE500) + Black</a:t>
            </a:r>
          </a:p>
          <a:p>
            <a:pPr>
              <a:defRPr sz="1600">
                <a:solidFill>
                  <a:srgbClr val="999999"/>
                </a:solidFill>
              </a:defRPr>
            </a:pPr>
            <a:r>
              <a:t>新增功能: 暗色模式 / 设计 Token 系统 / 登录页重构</a:t>
            </a:r>
          </a:p>
          <a:p>
            <a:br/>
            <a:pPr>
              <a:defRPr sz="1300">
                <a:solidFill>
                  <a:srgbClr val="666666"/>
                </a:solidFill>
              </a:defRPr>
            </a:pPr>
            <a:r>
              <a:t>日期: 2026-06-18  |  截图对比: 16 vs 17 张  |  修改文件: 11 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报告目录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- 1. 优化背景与问题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- 2. 优化方案概览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- 3. 配色对比: Red vs EY Yellow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- 4. 登录页对比 (Before/After)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- 5. 欢迎页对比 (Before/After)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- 6. 消息气泡对比 (Before/After)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- 7. 侧边栏对比 (Before/After)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- 8. 暗色模式展示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- 9. 主题切换器 (Profile 页)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- 10. 各页面暗色模式展示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- 11. 响应式布局展示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</a:defRPr>
            </a:pPr>
            <a:r>
              <a:t>- 12. 优化成果总结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优化背景与问题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为什么需要优化配色？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500"/>
                </a:solidFill>
              </a:defRPr>
            </a:pPr>
            <a:r>
              <a:t>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品牌色错误: #E00033 (红色) 不是 EY 品牌色。EY 官方品牌色为 Yellow (#FFE500)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登录页使用原始 HTML: 与其余 Ant Design 页面风格不统一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缺乏暗色模式: 不支持暗色主题切换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设计 Token 不足: Ant Design ConfigProvider 仅配置 2 个 Token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内联样式遍布: 所有组件使用内联 style={{}}，无 CSS 架构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用户消息气泡: 红底白字对比度问题，不符合品牌视觉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500"/>
                </a:solidFill>
              </a:defRPr>
            </a:pPr>
            <a:r>
              <a:t>优化目标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配色修正为 EY Yellow (#FFE500) + Black (#262626)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登录页使用 Ant Design 组件统一风格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实现完整的暗色模式 (light/dark/system)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建立设计 Token 系统 (CSS 变量 + Ant Design Token)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用户消息气泡: 深灰底 + 黄色装饰条</a:t>
            </a:r>
          </a:p>
        </p:txBody>
      </p:sp>
      <p:pic>
        <p:nvPicPr>
          <p:cNvPr id="9" name="Picture 8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840480"/>
            <a:ext cx="2377440" cy="2286000"/>
          </a:xfrm>
          <a:prstGeom prst="rect">
            <a:avLst/>
          </a:prstGeom>
        </p:spPr>
      </p:pic>
      <p:pic>
        <p:nvPicPr>
          <p:cNvPr id="10" name="Picture 9" descr="03_welcom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3840480"/>
            <a:ext cx="237744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6217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0033"/>
                </a:solidFill>
              </a:defRPr>
            </a:pPr>
            <a:r>
              <a:t>优化前 (红色主题)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配色方案对比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Red -&gt; EY Yellow + 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Before (错误配色)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8640" cy="365760"/>
          </a:xfrm>
          <a:prstGeom prst="round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#E00033  主色 (Red)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48640" cy="3657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#333333  主文字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48640" cy="36576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#999999  次要文字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54864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#F5F5F5  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48640" cy="3657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#F0F0F0  边框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500"/>
                </a:solidFill>
              </a:defRPr>
            </a:pPr>
            <a:r>
              <a:t>After (EY Yellow + Black)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548640" cy="365760"/>
          </a:xfrm>
          <a:prstGeom prst="roundRect">
            <a:avLst/>
          </a:prstGeom>
          <a:solidFill>
            <a:srgbClr val="FFE50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#FFE500  主色 (EY Yellow)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#FFE500  主色 (EY Yellow)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40280"/>
            <a:ext cx="548640" cy="36576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#262626  主文字 (Black)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#262626  主文字 (Black)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51760"/>
            <a:ext cx="548640" cy="36576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#595959  次要文字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#595959  次要文字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63240"/>
            <a:ext cx="548640" cy="3657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#FAFAFA  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#FAFAFA  背景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74720"/>
            <a:ext cx="548640" cy="365760"/>
          </a:xfrm>
          <a:prstGeom prst="roundRect">
            <a:avLst/>
          </a:prstGeom>
          <a:solidFill>
            <a:srgbClr val="FFE50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#FFE500  用户消息装饰条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#FFE500  用户消息装饰条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029200" y="2743200"/>
            <a:ext cx="914400" cy="457200"/>
          </a:xfrm>
          <a:prstGeom prst="rightArrow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登录页对比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原始 HTML -&gt; Ant Design + EY 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pic>
        <p:nvPicPr>
          <p:cNvPr id="6" name="Picture 5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pic>
        <p:nvPicPr>
          <p:cNvPr id="8" name="Picture 7" descr="01_login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0033"/>
                </a:solidFill>
              </a:defRPr>
            </a:pPr>
            <a:r>
              <a:t>原始 HTML 表单，红色按钮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C41A"/>
                </a:solidFill>
              </a:defRPr>
            </a:pPr>
            <a:r>
              <a:t>Ant Design Form + 品牌面板，黄色按钮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欢迎页对比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红色 EY 文字 -&gt; 黄色品牌方块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pic>
        <p:nvPicPr>
          <p:cNvPr id="6" name="Picture 5" descr="03_welc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pic>
        <p:nvPicPr>
          <p:cNvPr id="8" name="Picture 7" descr="03_welcom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消息气泡对比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红底白字 -&gt; 深灰底白字 + 黄色装饰条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pic>
        <p:nvPicPr>
          <p:cNvPr id="6" name="Picture 5" descr="05_action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pic>
        <p:nvPicPr>
          <p:cNvPr id="8" name="Picture 7" descr="05_action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消息气泡优化: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用户消息: 深灰底(#262626) + 黄色左边框(4px) + 白字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AI 消息: 白色底 + 浅色边框 + Markdown 渲染 + 暗色模式适配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侧边栏对比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红色文字 -&gt; 黄色品牌方块 + 黑色标题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pic>
        <p:nvPicPr>
          <p:cNvPr id="6" name="Picture 5" descr="08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60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pic>
        <p:nvPicPr>
          <p:cNvPr id="8" name="Picture 7" descr="06_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暗色模式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新增 light/dark/system 三种模式</a:t>
            </a:r>
          </a:p>
        </p:txBody>
      </p:sp>
      <p:pic>
        <p:nvPicPr>
          <p:cNvPr id="5" name="Picture 4" descr="03_welc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7600" cy="4572000"/>
          </a:xfrm>
          <a:prstGeom prst="rect">
            <a:avLst/>
          </a:prstGeom>
        </p:spPr>
      </p:pic>
      <p:pic>
        <p:nvPicPr>
          <p:cNvPr id="6" name="Picture 5" descr="12_cha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657600" cy="4572000"/>
          </a:xfrm>
          <a:prstGeom prst="rect">
            <a:avLst/>
          </a:prstGeom>
        </p:spPr>
      </p:pic>
      <p:pic>
        <p:nvPicPr>
          <p:cNvPr id="7" name="Picture 6" descr="14_knowled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88720"/>
            <a:ext cx="347472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亮色模式 (Light)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暗色模式 - 聊天页 (Dark)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852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暗色模式 - 知识库 (Dark)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主题切换器 (Profile 页)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Ant Design Segmented 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pic>
        <p:nvPicPr>
          <p:cNvPr id="6" name="Picture 5" descr="10_profil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029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60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pic>
        <p:nvPicPr>
          <p:cNvPr id="8" name="Picture 7" descr="08_profil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0292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0033"/>
                </a:solidFill>
              </a:defRPr>
            </a:pPr>
            <a:r>
              <a:t>原 Profile 页仅有语言和邮箱设置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C41A"/>
                </a:solidFill>
              </a:defRPr>
            </a:pPr>
            <a:r>
              <a:t>新增 Appearance 区域 + Light/Dark/System 切换器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暗色模式全页面展示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profil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7600" cy="2743200"/>
          </a:xfrm>
          <a:prstGeom prst="rect">
            <a:avLst/>
          </a:prstGeom>
        </p:spPr>
      </p:pic>
      <p:pic>
        <p:nvPicPr>
          <p:cNvPr id="5" name="Picture 4" descr="13_history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657600" cy="2743200"/>
          </a:xfrm>
          <a:prstGeom prst="rect">
            <a:avLst/>
          </a:prstGeom>
        </p:spPr>
      </p:pic>
      <p:pic>
        <p:nvPicPr>
          <p:cNvPr id="6" name="Picture 5" descr="14_knowled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88720"/>
            <a:ext cx="34747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Profile - 暗色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History - 暗色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Knowledge Base - 暗色</a:t>
            </a:r>
          </a:p>
        </p:txBody>
      </p:sp>
      <p:pic>
        <p:nvPicPr>
          <p:cNvPr id="10" name="Picture 9" descr="12_cha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389120"/>
            <a:ext cx="457200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E500"/>
                </a:solidFill>
              </a:defRPr>
            </a:pPr>
            <a:r>
              <a:t>聊天页暗色模式 - 黄色主色贯穿所有交互元素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响应式布局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桌面/平板/手机</a:t>
            </a:r>
          </a:p>
        </p:txBody>
      </p:sp>
      <p:pic>
        <p:nvPicPr>
          <p:cNvPr id="5" name="Picture 4" descr="15_responsive_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2743200"/>
          </a:xfrm>
          <a:prstGeom prst="rect">
            <a:avLst/>
          </a:prstGeom>
        </p:spPr>
      </p:pic>
      <p:pic>
        <p:nvPicPr>
          <p:cNvPr id="6" name="Picture 5" descr="16_responsive_7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88720"/>
            <a:ext cx="3200400" cy="2743200"/>
          </a:xfrm>
          <a:prstGeom prst="rect">
            <a:avLst/>
          </a:prstGeom>
        </p:spPr>
      </p:pic>
      <p:pic>
        <p:nvPicPr>
          <p:cNvPr id="7" name="Picture 6" descr="17_responsive_3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188720"/>
            <a:ext cx="25603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1920px - 桌面端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768px - 平板端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375px - 手机端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- 桌面端: 完整侧边栏 + 聊天居中 (max-width: 900px)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- 平板端: 侧边栏自动折叠为图标模式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- 手机端: 欢迎页按钮单列布局，侧边栏最小化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- 所有断点下黄色品牌色保持一致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修改文件清单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frontend/src/styles/globals.css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CSS 变量 Token 系统 + 暗色模式覆盖 + 滚动条 + focus 样式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647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frontend/src/main.tsx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Ant Design 完整主题 Token (light/dark) + useTheme 集成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411480" cy="27432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frontend/src/hooks/useTheme.ts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NEW - 主题管理 Hook (light/dark/system + localStorage + system detection)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877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frontend/src/App.tsx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706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登录页 Ant Design 重构 (Form/Card/Alert) + EY 品牌面板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992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frontend/src/layout/AppLayout.tsx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821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EY 黄色品牌方块 + CSS 变量 + 暗色模式适配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10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frontend/src/components/chat/MessageBubble.tsx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93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用户消息: 深灰底 + 黄色左边框 + 暗色模式 CSS 变量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221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frontend/src/components/chat/WelcomeScreen.tsx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050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EY 黄色方块 Logo + CSS 变量适配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3367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frontend/src/pages/ChatPage.tsx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4165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CSS 变量 (border/thinking indicator)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451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frontend/src/pages/ProfilePage.tsx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28031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Appearance 区域 + Segmented 主题切换器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566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frontend/src/pages/HistoryPage.tsx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395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Ant Design 组件自动适配暗色模式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681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frontend/src/pages/admin/KnowledgeBasePage.tsx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6509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CSS 变量适配暗色模式表格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97880"/>
            <a:ext cx="411480" cy="27432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2626"/>
                </a:solidFill>
              </a:defRPr>
            </a:pPr>
            <a:r>
              <a:t>MOD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8795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frontend/vite.config.ts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60624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Docker 网络代理修复 (backend:8000)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E500"/>
                </a:solidFill>
              </a:defRPr>
            </a:pPr>
            <a:r>
              <a:t>优化成果总结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2743200" cy="36576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500"/>
                </a:solidFill>
              </a:defRPr>
            </a:pPr>
            <a:r>
              <a:t>配色修正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从错误红色改为正确的 EY 黄色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C41A"/>
                </a:solidFill>
              </a:defRPr>
            </a:pPr>
            <a:r>
              <a:t>暗色模式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支持 light/dark/system 三种模式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</a:defRPr>
            </a:pPr>
            <a:r>
              <a:t>登录页重构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原始 HTML -&gt; Ant Design + 品牌面板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22ED1"/>
                </a:solidFill>
              </a:defRPr>
            </a:pPr>
            <a:r>
              <a:t>设计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2 个 Token -&gt; 完整 Token 系统 + CSS 变量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371600"/>
            <a:ext cx="2103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8C16"/>
                </a:solidFill>
              </a:defRPr>
            </a:pPr>
            <a:r>
              <a:t>消息气泡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011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红底白字 -&gt; 深灰底 + 黄色装饰条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Before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红色 #E00033 主色 (非 EY 品牌)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登录页原始 HTML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仅亮色模式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- 2 个 Ant Design Token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内联样式分散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黄色 #FFE500 (正确 EY 品牌色)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登录页 Ant Design + 品牌面板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Light / Dark / System 三种模式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完整 Token 系统 + CSS 变量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- 统一设计规范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500"/>
                </a:solidFill>
              </a:defRPr>
            </a:pPr>
            <a:r>
              <a:t>优化完成</a:t>
            </a:r>
          </a:p>
          <a:p>
            <a:pPr algn="ctr">
              <a:defRPr sz="2000">
                <a:solidFill>
                  <a:srgbClr val="999999"/>
                </a:solidFill>
              </a:defRPr>
            </a:pPr>
            <a:r>
              <a:t>EY Onboarding AI - UI 配色优化报告</a:t>
            </a:r>
          </a:p>
          <a:p>
            <a:br/>
            <a:pPr algn="ctr">
              <a:defRPr sz="1400">
                <a:solidFill>
                  <a:srgbClr val="666666"/>
                </a:solidFill>
              </a:defRPr>
            </a:pPr>
            <a:r>
              <a:t>修改文件: 11 个  |  新增: useTheme Hook  |  截图: 17 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