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48640" cy="548640"/>
          </a:xfrm>
          <a:prstGeom prst="round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4630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网站用户体验审计报告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BBBCC"/>
                </a:solidFill>
              </a:defRPr>
            </a:pPr>
            <a:r>
              <a:t>EY Onboarding AI - 全维度体验走查与优化建议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2004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审计日期：2026 年 06 月 24 日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技术栈：React 18 + TypeScript + Ant Design 5 + Vite 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评估范围：国际化 / 可访问性 / 响应式设计 / 交互反馈 / 信息架构 / 微文案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执行摘要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2286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600" b="1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</a:defRPr>
            </a:pPr>
            <a:r>
              <a:t>整体体验评分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3600" b="1">
                <a:solidFill>
                  <a:srgbClr val="E74C3C"/>
                </a:solidFill>
              </a:defRPr>
            </a:pPr>
            <a:r>
              <a:t>4.5 / 10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</a:defRPr>
            </a:pPr>
            <a:r>
              <a:t>存在多处用户可见的 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9144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800"/>
              </a:spcAft>
              <a:defRPr sz="1600" b="1">
                <a:solidFill>
                  <a:srgbClr val="333333"/>
                </a:solidFill>
              </a:defRPr>
            </a:pPr>
            <a:r>
              <a:t>问题统计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E74C3C"/>
                </a:solidFill>
              </a:defRPr>
            </a:pPr>
            <a:r>
              <a:t>严重问题  5 个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39C12"/>
                </a:solidFill>
              </a:defRPr>
            </a:pPr>
            <a:r>
              <a:t>中等问题  7 个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27AE60"/>
                </a:solidFill>
              </a:defRPr>
            </a:pPr>
            <a:r>
              <a:t>轻微问题  5 个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</a:defRPr>
            </a:pPr>
            <a:r>
              <a:t>合计发现  17 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27AE60"/>
                </a:solidFill>
              </a:defRPr>
            </a:pPr>
            <a:r>
              <a:t>主要优势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</a:defRPr>
            </a:pPr>
            <a:r>
              <a:t>  视觉设计精致，EY 品牌蓝贯穿全局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</a:defRPr>
            </a:pPr>
            <a:r>
              <a:t>  主题切换流畅，深浅色模式适配完整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</a:defRPr>
            </a:pPr>
            <a:r>
              <a:t>  i18n 基础设施完备（zh/en 双语言）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</a:defRPr>
            </a:pPr>
            <a:r>
              <a:t>  SSE 流式消息体验流畅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</a:defRPr>
            </a:pPr>
            <a:r>
              <a:t>  新手指引 Tour 已实现多步交互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</a:defRPr>
            </a:pPr>
            <a:r>
              <a:t>  历史搜索/时间筛选功能已就绪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14400"/>
            <a:ext cx="54864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E74C3C"/>
                </a:solidFill>
              </a:defRPr>
            </a:pPr>
            <a:r>
              <a:t>主要短板（本次新发现）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</a:defRPr>
            </a:pPr>
            <a:r>
              <a:t>  i18n 密钥泄漏到 UI：用户直接看到原始键名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</a:defRPr>
            </a:pPr>
            <a:r>
              <a:t>  日期字段渲染缺陷：历史列表显示 undefined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</a:defRPr>
            </a:pPr>
            <a:r>
              <a:t>  移动端可用性缺失：操作按钮触摸设备不可见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</a:defRPr>
            </a:pPr>
            <a:r>
              <a:t>  登录安全顾虑：演示账号密码预填在表单中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</a:defRPr>
            </a:pPr>
            <a:r>
              <a:t>  国际化不完整：欢迎页横幅硬编码中文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</a:defRPr>
            </a:pPr>
            <a:r>
              <a:t>  Tour 阻断交互：无 Escape 退出、无焦点陷阱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</a:defRPr>
            </a:pPr>
            <a:r>
              <a:t>  无 Shift+Enter 多行输入支持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关键问题 - i18n 密钥泄漏到用户界面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137160"/>
            <a:ext cx="137160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严重</a:t>
            </a:r>
          </a:p>
        </p:txBody>
      </p:sp>
      <p:pic>
        <p:nvPicPr>
          <p:cNvPr id="5" name="Picture 4" descr="09-chat-with-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5029200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822960"/>
            <a:ext cx="61264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E74C3C"/>
                </a:solidFill>
              </a:defRPr>
            </a:pPr>
            <a:r>
              <a:t>问题 1：复制按钮显示 copy_message 原始键名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现象：消息气泡的复制按钮显示字面量 "copy_message" 而非 "复制消息"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根因：MessageBubble 使用 useTranslation('chat')，但 key 定义在 common.json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E74C3C"/>
                </a:solidFill>
              </a:defRPr>
            </a:pPr>
            <a:r>
              <a:t>影响：用户看到技术性键名，破坏产品信任感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27AE60"/>
                </a:solidFill>
              </a:defRPr>
            </a:pPr>
            <a:r>
              <a:t>修复：将 key 迁移至 chat.json 或改为 useTranslation('common')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749039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E74C3C"/>
                </a:solidFill>
              </a:defRPr>
            </a:pPr>
            <a:r>
              <a:t>问题 2：输入框显示 chat_input_label 原始键名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现象：ChatPage 输入框的可访问性标签泄漏为可见文本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根因：chat_input_label 定义在 common.json，ChatPage 使用 chat namespace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E74C3C"/>
                </a:solidFill>
              </a:defRPr>
            </a:pPr>
            <a:r>
              <a:t>影响：屏幕阅读器标签泄漏到可视界面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27AE60"/>
                </a:solidFill>
              </a:defRPr>
            </a:pPr>
            <a:r>
              <a:t>修复：统一命名空间引用或迁移键值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49039"/>
            <a:ext cx="5669280" cy="25603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2E5EAA"/>
                </a:solidFill>
              </a:defRPr>
            </a:pPr>
            <a:r>
              <a:t>改进建议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建立 i18n 命名空间规范：每个组件明确声明 namespace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添加 CI 检查：构建时扫描 t() 调用，验证键存在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启用 i18next missingKeyHandler，开发模式报警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新增 UI 文本同步添加到 zh + en 两个 locale 文件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关键问题 - 数据渲染缺陷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137160"/>
            <a:ext cx="137160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严重</a:t>
            </a:r>
          </a:p>
        </p:txBody>
      </p:sp>
      <p:pic>
        <p:nvPicPr>
          <p:cNvPr id="5" name="Picture 4" descr="11-history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5029200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822960"/>
            <a:ext cx="61264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E74C3C"/>
                </a:solidFill>
              </a:defRPr>
            </a:pPr>
            <a:r>
              <a:t>问题 3：历史列表每项标题后显示 ", undefined"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现象：每个会话标题后都带有 ", undefined" 后缀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根因：session.updatedAt 为空时直接渲染 undefined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E74C3C"/>
                </a:solidFill>
              </a:defRPr>
            </a:pPr>
            <a:r>
              <a:t>影响：30+ 会话时视觉污染严重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27AE60"/>
                </a:solidFill>
              </a:defRPr>
            </a:pPr>
            <a:r>
              <a:t>修复：session.updatedAt ? formatDate(session.updatedAt) : '未知时间'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749039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E74C3C"/>
                </a:solidFill>
              </a:defRPr>
            </a:pPr>
            <a:r>
              <a:t>问题 4：品牌名显示 "EYOnboarding" 无空格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现象：Logo 与 "Onboarding" 之间无间距，连成 "EYOnboarding"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根因：Logo 容器与 h2 之间无 gap 或 margin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E74C3C"/>
                </a:solidFill>
              </a:defRPr>
            </a:pPr>
            <a:r>
              <a:t>影响：品牌标识不完整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27AE60"/>
                </a:solidFill>
              </a:defRPr>
            </a:pPr>
            <a:r>
              <a:t>修复：为 h2 添加 marginLeft 或使用 flex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49039"/>
            <a:ext cx="5669280" cy="25603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2E5EAA"/>
                </a:solidFill>
              </a:defRPr>
            </a:pPr>
            <a:r>
              <a:t>改进建议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所有日期/时间渲染前必须格式化（Intl.DateTimeFormat）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品牌标识组件独立封装为 BrandLogo 确保间距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对可能为 null 的字段添加默认值或条件渲染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TypeScript 接口中将 updatedAt 标记为可选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关键问题 - 触摸设备操作按钮不可见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137160"/>
            <a:ext cx="137160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严重</a:t>
            </a:r>
          </a:p>
        </p:txBody>
      </p:sp>
      <p:pic>
        <p:nvPicPr>
          <p:cNvPr id="5" name="Picture 4" descr="10-chat-message-h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5029200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822960"/>
            <a:ext cx="61264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E74C3C"/>
                </a:solidFill>
              </a:defRPr>
            </a:pPr>
            <a:r>
              <a:t>问题 5：操作按钮在触摸设备上永远不可见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现象：按钮使用 CSS opacity: 0 + :hover 显隐控制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E74C3C"/>
                </a:solidFill>
              </a:defRPr>
            </a:pPr>
            <a:r>
              <a:t>触摸设备无 hover 状态 -&gt; 按钮永远不可见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</a:defRPr>
            </a:pPr>
            <a:r>
              <a:t>影响分析：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移动端用户完全无法看到操作按钮（零可见性）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iPad 等平板用户占比不低，体验受损面大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与桌面端体验严重不一致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违反 WCAG 2.1 Pointer Gestures 和 Target Size 准则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4206240"/>
            <a:ext cx="6126480" cy="21031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2E5EAA"/>
                </a:solidFill>
              </a:defRPr>
            </a:pPr>
            <a:r>
              <a:t>改进方案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27AE60"/>
                </a:solidFill>
              </a:defRPr>
            </a:pPr>
            <a:r>
              <a:t>方案A（推荐）：触摸设备按钮始终可见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@media (hover: none) { .msg-btn { opacity: 1 !important; } }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27AE60"/>
                </a:solidFill>
              </a:defRPr>
            </a:pPr>
            <a:r>
              <a:t>方案B：长按消息气泡弹出操作菜单（类似微信）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27AE60"/>
                </a:solidFill>
              </a:defRPr>
            </a:pPr>
            <a:r>
              <a:t>方案C：右上角固定可见的更多按钮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中等问题 - 导航与安全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137160"/>
            <a:ext cx="137160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中等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3657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>
                <a:solidFill>
                  <a:srgbClr val="F39C12"/>
                </a:solidFill>
              </a:defRPr>
            </a:pPr>
            <a:r>
              <a:t>问题 6：侧边栏仅显示 Onboarding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完整名称是 EY Onboarding AI，但侧边栏仅显示 Onboarding，品牌不完整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27AE60"/>
                </a:solidFill>
              </a:defRPr>
            </a:pPr>
            <a:r>
              <a:t>修复：改为 t('app_name') 或 EY Onboarding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822960"/>
            <a:ext cx="3657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>
                <a:solidFill>
                  <a:srgbClr val="F39C12"/>
                </a:solidFill>
              </a:defRPr>
            </a:pPr>
            <a:r>
              <a:t>问题 7：登录表单预填演示密码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email 和 password 均已预填，任何打开登录页的人都能直接进入系统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27AE60"/>
                </a:solidFill>
              </a:defRPr>
            </a:pPr>
            <a:r>
              <a:t>修复：移除密码预填，改为独立提示卡片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822960"/>
            <a:ext cx="3657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>
                <a:solidFill>
                  <a:srgbClr val="F39C12"/>
                </a:solidFill>
              </a:defRPr>
            </a:pPr>
            <a:r>
              <a:t>问题 8：Tour 阻断所有页面交互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首次登录 Modal 不可关闭，Tour 遮罩层无 Escape 退出、无焦点陷阱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27AE60"/>
                </a:solidFill>
              </a:defRPr>
            </a:pPr>
            <a:r>
              <a:t>修复：添加 closable、Escape 监听、aria-modal=true</a:t>
            </a:r>
          </a:p>
        </p:txBody>
      </p:sp>
      <p:pic>
        <p:nvPicPr>
          <p:cNvPr id="8" name="Picture 7" descr="04-tour-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566160"/>
            <a:ext cx="5029200" cy="2743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0" y="3566160"/>
            <a:ext cx="6126480" cy="2743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2E5EAA"/>
                </a:solidFill>
              </a:defRPr>
            </a:pPr>
            <a:r>
              <a:t>综合改进建议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侧边栏品牌名补全：Onboarding -&gt; EY Onboarding AI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登录表单：移除密码预填，改为 Alert 提示卡片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Tour 交互优化：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- Modal 添加 closable 和右上角 X 按钮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- Tour 遮罩层监听 Escape 键跳过引导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- 使用 focus-trap 实现焦点陷阱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- 添加始终可见的跳过按钮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中等问题 - 列表与主题一致性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137160"/>
            <a:ext cx="137160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中等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5486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39C12"/>
                </a:solidFill>
              </a:defRPr>
            </a:pPr>
            <a:r>
              <a:t>问题 9：历史列表无日期分组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现象：30+ 会话平铺排列，无 今天/昨天/本周 分组标题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</a:defRPr>
            </a:pPr>
            <a:r>
              <a:t>影响：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用户需逐条滚动查找目标会话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时间筛选按钮存在但列表不分组，功能价值打折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缺少最近使用的视觉层次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27AE60"/>
                </a:solidFill>
              </a:defRPr>
            </a:pPr>
            <a:r>
              <a:t>修复：按日期分组渲染，参考 ChatGPT 的日期分组交互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822960"/>
            <a:ext cx="5669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39C12"/>
                </a:solidFill>
              </a:defRPr>
            </a:pPr>
            <a:r>
              <a:t>问题 10：两个主题切换控制行为不一致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</a:defRPr>
            </a:pPr>
            <a:r>
              <a:t>现象：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Header 中：点击按钮即时切换 light/dark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Profile 页：Segmented 即时切换但旁边有保存按钮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影响：用户困惑 - 到底要不要点保存？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27AE60"/>
                </a:solidFill>
              </a:defRPr>
            </a:pPr>
            <a:r>
              <a:t>修复 A：移除 Profile 页主题切换（推荐）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7AE60"/>
                </a:solidFill>
              </a:defRPr>
            </a:pPr>
            <a:r>
              <a:t>修复 B：两者统一为即时生效</a:t>
            </a:r>
          </a:p>
        </p:txBody>
      </p:sp>
      <p:pic>
        <p:nvPicPr>
          <p:cNvPr id="7" name="Picture 6" descr="12-profile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749039"/>
            <a:ext cx="5486400" cy="2560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26480" y="3749039"/>
            <a:ext cx="5669280" cy="25603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2E5EAA"/>
                </a:solidFill>
              </a:defRPr>
            </a:pPr>
            <a:r>
              <a:t>改进方案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</a:defRPr>
            </a:pPr>
            <a:r>
              <a:t>历史列表日期分组：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按 updatedAt 分组为 Today / This Week / Earlier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使用 List.Group 或自定义分组标题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每组显示会话数量（如 今天 3 条对话）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</a:defRPr>
            </a:pPr>
            <a:r>
              <a:t>主题切换统一化：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保留 Header 即时切换（最佳位置）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Profile 页移除主题切换或改为只读显示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中等问题 - 输入与导航体验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137160"/>
            <a:ext cx="137160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中等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39C12"/>
                </a:solidFill>
              </a:defRPr>
            </a:pPr>
            <a:r>
              <a:t>问题 11：不支持 Shift+Enter 多行输入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现象：Enter 直接发送，无 Shift+Enter 换行支持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影响：无法粘贴代码或多段落，不符合 ChatGPT/微信/Slack 惯例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27AE60"/>
                </a:solidFill>
              </a:defRPr>
            </a:pPr>
            <a:r>
              <a:t>修复：onKeyDown 替换 onPressEnter，Input 改为 TextArea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822960"/>
            <a:ext cx="5669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39C12"/>
                </a:solidFill>
              </a:defRPr>
            </a:pPr>
            <a:r>
              <a:t>问题 12：用户头像下拉菜单仅含退出登录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现象：userMenu 只有 logout，无个人资料入口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影响：查看个人资料需通过侧边栏，路径过长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27AE60"/>
                </a:solidFill>
              </a:defRPr>
            </a:pPr>
            <a:r>
              <a:t>修复：增加 profile 菜单项 + Divider 分隔</a:t>
            </a:r>
          </a:p>
        </p:txBody>
      </p:sp>
      <p:pic>
        <p:nvPicPr>
          <p:cNvPr id="7" name="Picture 6" descr="19-chat-input-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566160"/>
            <a:ext cx="502920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3566160"/>
            <a:ext cx="6126480" cy="2743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2E5EAA"/>
                </a:solidFill>
              </a:defRPr>
            </a:pPr>
            <a:r>
              <a:t>改进方案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</a:defRPr>
            </a:pPr>
            <a:r>
              <a:t>多行输入实现：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Input 替换为 TextArea，autoSize minRows=1 maxRows=4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onKeyDown 处理：Enter 发送，Shift+Enter 换行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输入框下方添加提示：按 Enter 发送，Shift+Enter 换行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</a:defRPr>
            </a:pPr>
            <a:r>
              <a:t>头像菜单增强：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增加 profile 菜单项，放在 logout 上方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用 Divider 分隔设置项和操作项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轻微问题 - 国际化与交互细节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137160"/>
            <a:ext cx="13716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轻微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>
                <a:solidFill>
                  <a:srgbClr val="27AE60"/>
                </a:solidFill>
              </a:defRPr>
            </a:pPr>
            <a:r>
              <a:t>问题 13：WelcomeScreen 提示硬编码中文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欢迎横幅未使用 t() 函数，英文模式仍显示中文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27AE60"/>
                </a:solidFill>
              </a:defRPr>
            </a:pPr>
            <a:r>
              <a:t>修复：添加 welcome_tip 翻译键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822960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>
                <a:solidFill>
                  <a:srgbClr val="27AE60"/>
                </a:solidFill>
              </a:defRPr>
            </a:pPr>
            <a:r>
              <a:t>问题 14：无滚动回底按钮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AI 流式输出期间，用户上滚后无新消息提示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27AE60"/>
                </a:solidFill>
              </a:defRPr>
            </a:pPr>
            <a:r>
              <a:t>修复：IntersectionObserver 检测底部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822960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1">
                <a:solidFill>
                  <a:srgbClr val="27AE60"/>
                </a:solidFill>
              </a:defRPr>
            </a:pPr>
            <a:r>
              <a:t>问题 15：历史搜索无防抖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每次击键触发过滤计算，性能浪费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27AE60"/>
                </a:solidFill>
              </a:defRPr>
            </a:pPr>
            <a:r>
              <a:t>修复：useDebounce 延迟 300ms</a:t>
            </a:r>
          </a:p>
        </p:txBody>
      </p:sp>
      <p:pic>
        <p:nvPicPr>
          <p:cNvPr id="8" name="Picture 7" descr="08-chat-welcome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91840"/>
            <a:ext cx="5029200" cy="3017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0" y="3291840"/>
            <a:ext cx="6126480" cy="30175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2E5EAA"/>
                </a:solidFill>
              </a:defRPr>
            </a:pPr>
            <a:r>
              <a:t>改进方案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</a:defRPr>
            </a:pPr>
            <a:r>
              <a:t>国际化完整性：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审查所有硬编码中文字符串，替换为 t()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新增翻译键同步到 zh + en 两个文件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</a:defRPr>
            </a:pPr>
            <a:r>
              <a:t>滚动回底实现：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IntersectionObserver 观察底部 sentinel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不在底部时显示浮动按钮 + 未读计数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</a:defRPr>
            </a:pPr>
            <a:r>
              <a:t>搜索防抖实现：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useDebounce hook 延迟 300ms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useMemo 依赖从 searchQuery 改为 debouncedQuery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轻微问题 - 输入反馈与可访问性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137160"/>
            <a:ext cx="13716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轻微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27AE60"/>
                </a:solidFill>
              </a:defRPr>
            </a:pPr>
            <a:r>
              <a:t>问题 16：maxLength=4000 但无字符计数反馈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现象：粘贴超长文本时静默截断，无任何提示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</a:defRPr>
            </a:pPr>
            <a:r>
              <a:t>影响：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用户误以为完整内容已提交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粘贴长文档时部分内容丢失且无感知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27AE60"/>
                </a:solidFill>
              </a:defRPr>
            </a:pPr>
            <a:r>
              <a:t>修复：右下角添加字符计数器 length/4000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822960"/>
            <a:ext cx="5669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27AE60"/>
                </a:solidFill>
              </a:defRPr>
            </a:pPr>
            <a:r>
              <a:t>问题 17：三级文本颜色对比度不满足 WCAG AA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现象：多处使用 #8C8C8C，对白色背景对比度约 3.13:1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WCAG AA 要求正文对比度 &gt;= 4.5:1，当前不达标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影响：视力障碍用户和强光环境下可读性差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27AE60"/>
                </a:solidFill>
              </a:defRPr>
            </a:pPr>
            <a:r>
              <a:t>修复：将 tertiary text 提升至 #595959（对比度 7.0:1）</a:t>
            </a:r>
          </a:p>
        </p:txBody>
      </p:sp>
      <p:pic>
        <p:nvPicPr>
          <p:cNvPr id="7" name="Picture 6" descr="20-english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566160"/>
            <a:ext cx="502920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3566160"/>
            <a:ext cx="6126480" cy="2743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600"/>
              </a:spcAft>
              <a:defRPr sz="1500" b="1">
                <a:solidFill>
                  <a:srgbClr val="2E5EAA"/>
                </a:solidFill>
              </a:defRPr>
            </a:pPr>
            <a:r>
              <a:t>改进方案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</a:defRPr>
            </a:pPr>
            <a:r>
              <a:t>字符计数器实现：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输入框下方添加 length/4000 显示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&gt;3500 时橙色，=4000 时红色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截断时显示 Toast 提示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</a:defRPr>
            </a:pPr>
            <a:r>
              <a:t>颜色对比度修复：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globals.css 重定义 tertiary: #595959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辅助文本可接受 3:1，但确保字号 &gt;= 14px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</a:defRPr>
            </a:pPr>
            <a:r>
              <a:t>  使用 lighthouse 或 axe DevTools 自动化检测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优化路线图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22960"/>
            <a:ext cx="3657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E74C3C"/>
                </a:solidFill>
              </a:defRPr>
            </a:pPr>
            <a:r>
              <a:t>立即可做（1-3天）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[OK] 修复 i18n 命名空间错位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[OK] 修复历史标题 undefined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[OK] 修复 EYOnboarding 连写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[OK] 触摸设备按钮始终可见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[OK] 移除登录密码预填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[OK] WelcomeScreen 提示国际化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[OK] 输入框添加字符计数器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822960"/>
            <a:ext cx="3657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F39C12"/>
                </a:solidFill>
              </a:defRPr>
            </a:pPr>
            <a:r>
              <a:t>短期规划（1-2周）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 ] 历史列表日期分组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 ] Tour 交互优化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 ] Shift+Enter 多行输入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 ] 头像菜单添加个人资料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 ] 历史搜索添加 debounce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 ] 统一主题切换行为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 ] 颜色对比度修复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822960"/>
            <a:ext cx="3749039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27AE60"/>
                </a:solidFill>
              </a:defRPr>
            </a:pPr>
            <a:r>
              <a:t>长期考虑（1个月+）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 ] 流式输出滚动回底按钮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 ] 侧边栏品牌名补全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 ] i18n CI 检查集成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 ] 移动端长按操作菜单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 ] 多语言内容自动检测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 ] 离线模式支持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[ ] 语音输入支持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394960"/>
            <a:ext cx="11430000" cy="10972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1">
                <a:solidFill>
                  <a:srgbClr val="2E5EAA"/>
                </a:solidFill>
              </a:defRPr>
            </a:pPr>
            <a:r>
              <a:t>预期改善效果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完成立即可做后：i18n 泄漏完全修复，登录安全提升，评分 4.5 -&gt; 6.5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完成全部优化后：移动端可用性从零到可用，评分 6.5 -&gt; 8.0+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附录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22960"/>
            <a:ext cx="3657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2E5EAA"/>
                </a:solidFill>
              </a:defRPr>
            </a:pPr>
            <a:r>
              <a:t>测试环境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浏览器：Chrome/Edge 最新版本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语言模式：中文 zh-CN + 英文 en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主题模式：浅色 + 深色均已验证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设备：桌面端 &gt;=1024px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平板 768-1024px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分辨率：1920x1080, 1440x900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822960"/>
            <a:ext cx="3657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2E5EAA"/>
                </a:solidFill>
              </a:defRPr>
            </a:pPr>
            <a:r>
              <a:t>技术栈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前端：React 18 + TypeScript + Vite 5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UI 框架：Ant Design 5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状态管理：Zustand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国际化：react-i18next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路由：React Router v6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通信：SSE 流式消息传输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822960"/>
            <a:ext cx="3749039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600"/>
              </a:spcAft>
              <a:defRPr sz="1600" b="1">
                <a:solidFill>
                  <a:srgbClr val="2E5EAA"/>
                </a:solidFill>
              </a:defRPr>
            </a:pPr>
            <a:r>
              <a:t>评估方法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启发式评估 Heuristic Evaluation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端到端用户旅程走查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代码审查定位根因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覆盖 7 个维度：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  国际化 / 可访问性 / 响应式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  交互反馈 / 信息架构 / 安全性 / 微文案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749039"/>
            <a:ext cx="114300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800"/>
              </a:spcAft>
              <a:defRPr sz="1600" b="1">
                <a:solidFill>
                  <a:srgbClr val="2E5EAA"/>
                </a:solidFill>
              </a:defRPr>
            </a:pPr>
            <a:r>
              <a:t>问题根因汇总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i18n 命名空间不一致（3个问题同源）- common.json 的键被 chat namespace 引用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缺少可选链/默认值处理（2个问题同源）- session.updatedAt 和品牌间距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纯 CSS hover 依赖（1个问题）- 移动端零可见性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安全实践缺失（1个问题）- 登录密码预填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交互设计遗漏（4个问题）- Tour 阻断/多行输入/日期分组/字符反馈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性能优化缺失（1个问题）- 搜索无防抖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视觉/可访问性（2个问题）- 颜色对比度/滚动回底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  <a:r>
              <a:t>  用户菜单不完整（1个问题）- 缺少个人资料入口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