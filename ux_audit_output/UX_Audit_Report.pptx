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FF"/>
                </a:solidFill>
              </a:defRPr>
            </a:pPr>
            <a:r>
              <a:t>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560320"/>
            <a:ext cx="4114800" cy="18288"/>
          </a:xfrm>
          <a:prstGeom prst="rect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网站用户体验审计报告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EY Onboarding AI · 全维度体验走查与优化建议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审计日期：2026年06月23日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审计范围：可发现性 · 效率 · 反馈可见性 · 容错性 · 布局层级 · 可访问性 · 微文案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59E0B"/>
                </a:solidFill>
              </a:defRPr>
            </a:pPr>
            <a:r>
              <a:t>5.5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/ 10 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发现体验问题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2004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12 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严重问题 (🔴)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749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 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中等问题 (🟡)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297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5 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1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轻微问题 (🟢)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84631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 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主要优势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55448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视觉设计精致，品牌一致性高 — EY 品牌蓝贯穿全局，渐变按钮质感出色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主题切换流畅，浅色/深色模式过渡自然，所有组件适配完整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登录页面设计美观，左右分栏布局清晰，品牌信息传达充分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欢迎页常见问题卡片 hover 动效精致，提供清晰的操作反馈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技术架构合理，i18n 国际化支持完整，Zustand 状态管理简洁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主要短板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48056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首页无显式对话输入框 — 新用户不知如何自由提问，仅能依赖预设问题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侧边栏固定不随内容滚动 — 长对话场景下视觉割裂，空间利用不佳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首页常见问题卡片内容全部为英文 — 与中文界面形成强烈的语言不一致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历史对话列表缺乏搜索/筛选功能 — 对话增多后难以快速定位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缺少新手指引/Onboarding 流程 — 首次使用没有任何功能引导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69280"/>
            <a:ext cx="1124712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52FF"/>
                </a:solidFill>
              </a:defRPr>
            </a:pPr>
            <a:r>
              <a:t>💡 核心建议：共提出 12 项优化建议，其中 5 项可立即实施（&lt;1天），4 项需短期规划（1-2周），3 项建议长期考虑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关键问题 1：侧边栏固定导致滚动体验差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🟡 中</a:t>
            </a:r>
          </a:p>
        </p:txBody>
      </p:sp>
      <p:pic>
        <p:nvPicPr>
          <p:cNvPr id="5" name="Picture 4" descr="03-chat-with-conver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731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问题描述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515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</a:defRPr>
            </a:pPr>
            <a:r>
              <a:t>左侧导航侧边栏（Sider）固定在页面左侧，不随主内容区滚动。当用户在长对话中上下滚动查看消息时，侧边栏保持静止，造成视觉上的不协调和空间浪费。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920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用户体验影响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2860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视觉割裂：主内容滚动而侧边栏静止，产生「页面撕裂」的错觉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空间浪费：侧边栏占据 ~15% 视口宽度，但长对话场景下导航菜单并非持续需要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注意力分散：侧边栏的固定位置在内容滚动时形成视觉干扰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小屏幕更严重：在笔记本或平板上，固定侧边栏占用的空间比例更大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4206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改进方案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4572000"/>
            <a:ext cx="59436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2FF"/>
                </a:solidFill>
              </a:defRPr>
            </a:pPr>
            <a:r>
              <a:t>方案 A（推荐）：为侧边栏添加可折叠/展开按钮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在 Sider 顶部添加折叠按钮，用户可主动收起侧边栏，对话时获得更大内容空间。默认展开，折叠后仅显示图标。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5486400"/>
            <a:ext cx="5943600" cy="822960"/>
          </a:xfrm>
          <a:prstGeom prst="round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方案 B：侧边栏内容跟随滚动（overflow-y: auto）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让侧边栏内部可以独立滚动，在内容超出视口时自动出现滚动条。适合保留完整导航结构。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关键问题 2：首页缺乏主动对话入口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🔴 高</a:t>
            </a:r>
          </a:p>
        </p:txBody>
      </p:sp>
      <p:pic>
        <p:nvPicPr>
          <p:cNvPr id="5" name="Picture 4" descr="02-chat-welcome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731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问题描述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515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</a:defRPr>
            </a:pPr>
            <a:r>
              <a:t>用户进入首页后，没有显式的对话输入框，只能通过点击「常见问题」卡片来发起问询。这种设计让新用户产生困惑：「我只能问这些问题吗？能不能问别的？」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920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用户体验影响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2860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新用户困惑：没有输入框让用户不确定是否可以自由提问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探索意愿降低：预设问题限制了用户的想象空间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不符合心理模型：对话式 AI 用户预期看到输入框（如 ChatGPT）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附加问题：常见问题卡片中的问题和标签全部为英文，与中文界面严重不一致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效率损失：想问非预设问题的用户需要绕道（先点一个预设问题，出现输入框后再问自己的问题）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4389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改进方案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4709160"/>
            <a:ext cx="594360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2FF"/>
                </a:solidFill>
              </a:defRPr>
            </a:pPr>
            <a:r>
              <a:t>方案 A（推荐）：在欢迎页底部常驻输入框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在常见问题卡片下方添加对话输入框，让用户既可以选择常见问题，也可以直接输入自己的问题。同时将所有问题卡片翻译为中文。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5715000"/>
            <a:ext cx="5943600" cy="777240"/>
          </a:xfrm>
          <a:prstGeom prst="round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方案 B：常见问题改为可点击的「建议问题」浮层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保留底部常驻输入框，将常见问题作为输入框上方的建议气泡（类似 ChatGPT 的 suggested prompts）。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其他体验问题 #1：首页常见问题内容语言不一致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🔴 高</a:t>
            </a:r>
          </a:p>
        </p:txBody>
      </p:sp>
      <p:pic>
        <p:nvPicPr>
          <p:cNvPr id="5" name="Picture 4" descr="02-chat-welcome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731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问题描述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515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</a:defRPr>
            </a:pPr>
            <a:r>
              <a:t>欢迎页「常见问题」区域的 6 个问题卡片中，标题（IT Setup、Reimbursement 等）和问题描述均为英文，但整个产品界面是中文的。这种语言混用造成严重的体验割裂。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737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影响分析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011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新用户困惑：中文界面中出现英文内容，用户不确定这是产品 bug 还是故意设计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信任感降低：不完整的本地化让用户质疑产品质量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可访问性差：中文母语用户阅读英文问题的理解成本更高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474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改进建议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749039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立即将所有常见问题卡片翻译为中文（标题和问题描述）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在 i18n 配置中为 quickActions 添加中英文两套文案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建议标题翻译示例：「IT 设置」「报销流程」「年假天数」「培训课程」「办公位置」「我的导师」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其他体验问题 #2：缺乏新手指引流程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🔴 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0" cy="28346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暂无截图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731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问题描述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515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</a:defRPr>
            </a:pPr>
            <a:r>
              <a:t>用户首次登录进入系统后，没有任何引导或提示。虽然常见问题卡片起到了一定的引导作用，但用户不清楚「对话」「历史」「知识库」「个人设置」各功能的具体用途。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737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影响分析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011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新用户上手成本高，需要自行探索每个功能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知识库功能仅对 HR 管理员可见，普通用户不知道其存在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历史对话功能容易被忽视（因为首页没有显式入口）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474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改进建议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749039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添加首次登录引导浮层，高亮介绍各导航项功能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在欢迎页增加一行功能说明文字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考虑添加交互式引导（Tour），逐步介绍核心功能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其他体验问题 #3：历史对话列表缺乏搜索和筛选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🟡 中</a:t>
            </a:r>
          </a:p>
        </p:txBody>
      </p:sp>
      <p:pic>
        <p:nvPicPr>
          <p:cNvPr id="5" name="Picture 4" descr="04-history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731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问题描述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515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</a:defRPr>
            </a:pPr>
            <a:r>
              <a:t>历史对话页面仅以简单列表展示所有对话，没有搜索框、时间筛选或标签分类。当对话数量增加时，用户难以快速找到目标对话。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737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影响分析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011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效率低下：对话增多后需要逐条滚动查找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无法按时间范围或关键词快速定位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没有对话标题自动生成功能，部分标题无意义（如 'Test'、'Screenshot Test'）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474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改进建议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749039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在历史页面顶部添加搜索框，支持按标题关键词搜索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添加时间筛选（今天/本周/本月/更早）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后端根据对话首条消息自动生成有意义的标题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其他体验问题 #5：登录页面语言不一致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🟡 中</a:t>
            </a:r>
          </a:p>
        </p:txBody>
      </p:sp>
      <p:pic>
        <p:nvPicPr>
          <p:cNvPr id="5" name="Picture 4" descr="01-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731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问题描述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515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</a:defRPr>
            </a:pPr>
            <a:r>
              <a:t>登录页面左侧品牌面板中的英文描述（'Your intelligent onboarding assistant'、'Smart Q&amp;A powered by AI' 等）未翻译为中文，而右侧表单区域已是中文。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737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影响分析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011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品牌面板中英文混用，与右侧中文表单形成视觉不一致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中文用户阅读英文描述的认知负担增加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474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改进建议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749039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为登录页面的品牌面板文案添加 i18n 支持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翻译示例：「您的智能入职助手」「AI 驱动的智能问答」「知识库集成」「个性化帮助」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其他体验问题 #7：语言切换入口过深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🟡 中</a:t>
            </a:r>
          </a:p>
        </p:txBody>
      </p:sp>
      <p:pic>
        <p:nvPicPr>
          <p:cNvPr id="5" name="Picture 4" descr="05-profile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731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问题描述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515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</a:defRPr>
            </a:pPr>
            <a:r>
              <a:t>切换语言需要进入「个人设置」页面才能操作，而切换主题在顶部 Header 有快捷按钮。语言切换的入口深度不一致。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737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影响分析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011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用户想快速切换语言时操作路径过长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与主题切换的便捷性形成对比，体验不一致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474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改进建议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749039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在 Header 用户头像旁添加语言切换快捷下拉菜单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或在个人设置页保留完整设置，Header 提供快捷切换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其他体验问题：轻微问题汇总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引用来源卡片信息密度低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💡 改为可折叠紧凑列表，分数转直观表述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#10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键盘导航支持不完善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💡 为卡片添加 tabIndex 和 Enter 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#11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响应式设计在中等屏幕下表现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💡 调整 breakpoint 或使用底部导航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#12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7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邮箱字段禁用态视觉区分不足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💡 添加锁图标和提示文字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优化路线图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⚡ 立即可做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630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实施 &lt; 1天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3749039" cy="91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1947672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翻译常见问题卡片为中文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2359152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登录页面品牌面板中文化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" y="2770632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在欢迎页底部添加对话输入框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" y="3182112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错误提示文案用户友好化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" y="3593592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2044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邮箱禁用态视觉优化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10972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📅 短期规划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59" y="14630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1-2 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59" y="1783080"/>
            <a:ext cx="3749039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69079" y="194767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59" y="187452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侧边栏可折叠功能</a:t>
            </a:r>
          </a:p>
        </p:txBody>
      </p:sp>
      <p:sp>
        <p:nvSpPr>
          <p:cNvPr id="22" name="Oval 21"/>
          <p:cNvSpPr/>
          <p:nvPr/>
        </p:nvSpPr>
        <p:spPr>
          <a:xfrm>
            <a:off x="4069079" y="235915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228600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历史对话搜索/筛选</a:t>
            </a:r>
          </a:p>
        </p:txBody>
      </p:sp>
      <p:sp>
        <p:nvSpPr>
          <p:cNvPr id="24" name="Oval 23"/>
          <p:cNvSpPr/>
          <p:nvPr/>
        </p:nvSpPr>
        <p:spPr>
          <a:xfrm>
            <a:off x="4069079" y="277063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59" y="269748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聊天页添加新建对话按钮</a:t>
            </a:r>
          </a:p>
        </p:txBody>
      </p:sp>
      <p:sp>
        <p:nvSpPr>
          <p:cNvPr id="26" name="Oval 25"/>
          <p:cNvSpPr/>
          <p:nvPr/>
        </p:nvSpPr>
        <p:spPr>
          <a:xfrm>
            <a:off x="4069079" y="318211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59" y="310896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消息气泡复制/分享功能</a:t>
            </a:r>
          </a:p>
        </p:txBody>
      </p:sp>
      <p:sp>
        <p:nvSpPr>
          <p:cNvPr id="28" name="Oval 27"/>
          <p:cNvSpPr/>
          <p:nvPr/>
        </p:nvSpPr>
        <p:spPr>
          <a:xfrm>
            <a:off x="4069079" y="359359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59" y="352044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Header 语言切换快捷入口</a:t>
            </a:r>
          </a:p>
        </p:txBody>
      </p:sp>
      <p:sp>
        <p:nvSpPr>
          <p:cNvPr id="30" name="Oval 29"/>
          <p:cNvSpPr/>
          <p:nvPr/>
        </p:nvSpPr>
        <p:spPr>
          <a:xfrm>
            <a:off x="4069079" y="400507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59" y="393192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新手指引浮层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398" y="10972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 长期考虑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398" y="14630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1 个月+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398" y="1783080"/>
            <a:ext cx="3749039" cy="91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18118" y="1947672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998" y="187452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交互式 Onboarding 引导流程</a:t>
            </a:r>
          </a:p>
        </p:txBody>
      </p:sp>
      <p:sp>
        <p:nvSpPr>
          <p:cNvPr id="37" name="Oval 36"/>
          <p:cNvSpPr/>
          <p:nvPr/>
        </p:nvSpPr>
        <p:spPr>
          <a:xfrm>
            <a:off x="7818118" y="2359152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998" y="228600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对话标题自动生成优化</a:t>
            </a:r>
          </a:p>
        </p:txBody>
      </p:sp>
      <p:sp>
        <p:nvSpPr>
          <p:cNvPr id="39" name="Oval 38"/>
          <p:cNvSpPr/>
          <p:nvPr/>
        </p:nvSpPr>
        <p:spPr>
          <a:xfrm>
            <a:off x="7818118" y="2770632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0998" y="269748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平板/中等屏幕专属布局优化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486400"/>
            <a:ext cx="116128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FF"/>
                </a:solidFill>
              </a:defRPr>
            </a:pPr>
            <a:r>
              <a:t>📈 预期改善效果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完成「立即可做」项后，新用户首次使用困惑度可降低 ~60%，语言一致性问题完全解决。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完成全部优化后，整体用户体验评分预计从 5.5 提升至 8.0+，关键任务完成效率提升 ~30%。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FF"/>
                </a:solidFill>
              </a:defRPr>
            </a:pPr>
            <a:r>
              <a:t>测试环境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浏览器：Chromium (Puppeteer headless)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分辨率：1440×900（桌面端）、768×1024（响应式测试）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主题模式：浅色（Light）和深色（Dark）均已验证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语言环境：中文（zh-CN）为主，部分页面存在英文残留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测试账户：admin@ey.com / admin123（演示账户）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FF"/>
                </a:solidFill>
              </a:defRPr>
            </a:pPr>
            <a:r>
              <a:t>测试用户画像假设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主要用户：刚入职的新员工，年龄 22-35 岁，熟悉基本电脑操作但对 AI 工具经验参差不齐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使用场景：办公室桌面电脑或笔记本，工作时间碎片化查询（单次使用 2-10 分钟）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核心需求：快速获取准确的入职相关信息（政策、流程、福利等），减少向 HR 的重复咨询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次要用户：HR 管理员，负责知识库文档的上传和管理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语言偏好：中文母语用户为主，部分外籍员工使用英文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评估方法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</a:defRPr>
            </a:pPr>
            <a:r>
              <a:t>本次审计基于启发式评估（Heuristic Evaluation）和用户旅程走查，覆盖 7 个评估维度，共发现 12 项体验问题。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