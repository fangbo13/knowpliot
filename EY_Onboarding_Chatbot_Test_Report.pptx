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36576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EY Onboarding Chatbot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CC00"/>
                </a:solidFill>
                <a:latin typeface="Calibri"/>
              </a:defRPr>
            </a:pPr>
            <a:r>
              <a:t>Test Report &amp; Bug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114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0E0E0"/>
                </a:solidFill>
                <a:latin typeface="Calibri"/>
              </a:defRPr>
            </a:pPr>
            <a:r>
              <a:t>Test Date: June 18, 2026  |  Tester: AI QA Engineer  |  Dev Tool: Claude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754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0E0E0"/>
                </a:solidFill>
                <a:latin typeface="Calibri"/>
              </a:defRPr>
            </a:pPr>
            <a:r>
              <a:t>Scope: Full-stack review of Django REST Backend + React/TypeScript Frontend + RAG Pipeline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36576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2560320" cy="1371600"/>
          </a:xfrm>
          <a:prstGeom prst="rect">
            <a:avLst/>
          </a:prstGeom>
          <a:solidFill>
            <a:srgbClr val="25253D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74C3C"/>
                </a:solidFill>
                <a:latin typeface="Calibri"/>
              </a:defRPr>
            </a:pPr>
            <a:r>
              <a:t>CRITICAL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3 Issues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231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Calibri"/>
              </a:defRPr>
            </a:pPr>
            <a:r>
              <a:t>Data loss, encoding errors, security gaps</a:t>
            </a:r>
          </a:p>
        </p:txBody>
      </p:sp>
      <p:sp>
        <p:nvSpPr>
          <p:cNvPr id="8" name="Rectangle 7"/>
          <p:cNvSpPr/>
          <p:nvPr/>
        </p:nvSpPr>
        <p:spPr>
          <a:xfrm>
            <a:off x="3566160" y="1463040"/>
            <a:ext cx="2560320" cy="1371600"/>
          </a:xfrm>
          <a:prstGeom prst="rect">
            <a:avLst/>
          </a:prstGeom>
          <a:solidFill>
            <a:srgbClr val="25253D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40" y="15544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67E22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40" y="19659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4 Issues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0" y="24231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Calibri"/>
              </a:defRPr>
            </a:pPr>
            <a:r>
              <a:t>SSE violations, API breaks, auth bypass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463040"/>
            <a:ext cx="2560320" cy="1371600"/>
          </a:xfrm>
          <a:prstGeom prst="rect">
            <a:avLst/>
          </a:prstGeom>
          <a:solidFill>
            <a:srgbClr val="25253D"/>
          </a:solidFill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5544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39C12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19659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4 Issues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4231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Calibri"/>
              </a:defRPr>
            </a:pPr>
            <a:r>
              <a:t>i18n failures, race conditions, no validation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35440" y="1463040"/>
            <a:ext cx="2560320" cy="1371600"/>
          </a:xfrm>
          <a:prstGeom prst="rect">
            <a:avLst/>
          </a:prstGeom>
          <a:solidFill>
            <a:srgbClr val="25253D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0" y="15544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7AE60"/>
                </a:solidFill>
                <a:latin typeface="Calibri"/>
              </a:defRPr>
            </a:pPr>
            <a:r>
              <a:t>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19659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3 Issues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24231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Calibri"/>
              </a:defRPr>
            </a:pPr>
            <a:r>
              <a:t>Code quality, minor UX, tech debt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20040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Total Issues Found: 14 bugs across Backend, Frontend, and RAG Pipeline layers</a:t>
            </a:r>
          </a:p>
          <a:p>
            <a:pPr>
              <a:spcAft>
                <a:spcPts val="70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Critical Risk: GBK encoding mismatch will corrupt all Chinese text in production</a:t>
            </a:r>
          </a:p>
          <a:p>
            <a:pPr>
              <a:spcAft>
                <a:spcPts val="70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Security Gap: Token-based auth has no expiry, rotation, or logout mechanism</a:t>
            </a:r>
          </a:p>
          <a:p>
            <a:pPr>
              <a:spcAft>
                <a:spcPts val="70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Data Integrity: Messages saved with incorrect token counts; citations silently swallowed</a:t>
            </a:r>
          </a:p>
          <a:p>
            <a:pPr>
              <a:spcAft>
                <a:spcPts val="70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Protocol Violation: SSE stream sends citations before "data:" prefix, breaking parsers</a:t>
            </a:r>
          </a:p>
          <a:p>
            <a:pPr>
              <a:spcAft>
                <a:spcPts val="70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Recommendation: All 3 Critical and 4 High bugs must be fixed before production deployment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Architecture Under Test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36576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2560320" cy="2286000"/>
          </a:xfrm>
          <a:prstGeom prst="rect">
            <a:avLst/>
          </a:prstGeom>
          <a:solidFill>
            <a:srgbClr val="25253D"/>
          </a:solidFill>
          <a:ln w="25400">
            <a:solidFill>
              <a:srgbClr val="6B4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B4C9A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60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React 18 + TypeScript</a:t>
            </a:r>
          </a:p>
          <a:p>
            <a:pPr>
              <a:spcAft>
                <a:spcPts val="360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Vite + Ant Design</a:t>
            </a:r>
          </a:p>
          <a:p>
            <a:pPr>
              <a:spcAft>
                <a:spcPts val="360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Zustand State Mgmt</a:t>
            </a:r>
          </a:p>
          <a:p>
            <a:pPr>
              <a:spcAft>
                <a:spcPts val="360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react-i18n (i18n)</a:t>
            </a:r>
          </a:p>
        </p:txBody>
      </p:sp>
      <p:sp>
        <p:nvSpPr>
          <p:cNvPr id="7" name="Rectangle 6"/>
          <p:cNvSpPr/>
          <p:nvPr/>
        </p:nvSpPr>
        <p:spPr>
          <a:xfrm>
            <a:off x="3566160" y="1463040"/>
            <a:ext cx="2560320" cy="2286000"/>
          </a:xfrm>
          <a:prstGeom prst="rect">
            <a:avLst/>
          </a:prstGeom>
          <a:solidFill>
            <a:srgbClr val="25253D"/>
          </a:solidFill>
          <a:ln w="25400">
            <a:solidFill>
              <a:srgbClr val="6B4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49040" y="1554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B4C9A"/>
                </a:solidFill>
                <a:latin typeface="Calibri"/>
              </a:defRPr>
            </a:pPr>
            <a:r>
              <a:t>API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40" y="196596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60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REST API v1</a:t>
            </a:r>
          </a:p>
          <a:p>
            <a:pPr>
              <a:spcAft>
                <a:spcPts val="360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SSE Streaming</a:t>
            </a:r>
          </a:p>
          <a:p>
            <a:pPr>
              <a:spcAft>
                <a:spcPts val="360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Bearer Token Auth</a:t>
            </a:r>
          </a:p>
          <a:p>
            <a:pPr>
              <a:spcAft>
                <a:spcPts val="360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Axios HTTP Client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463040"/>
            <a:ext cx="2560320" cy="2286000"/>
          </a:xfrm>
          <a:prstGeom prst="rect">
            <a:avLst/>
          </a:prstGeom>
          <a:solidFill>
            <a:srgbClr val="25253D"/>
          </a:solidFill>
          <a:ln w="25400">
            <a:solidFill>
              <a:srgbClr val="6B4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554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B4C9A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96596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60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Django 5 + DRF</a:t>
            </a:r>
          </a:p>
          <a:p>
            <a:pPr>
              <a:spcAft>
                <a:spcPts val="360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SQLite Database</a:t>
            </a:r>
          </a:p>
          <a:p>
            <a:pPr>
              <a:spcAft>
                <a:spcPts val="360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Celery (Async)</a:t>
            </a:r>
          </a:p>
          <a:p>
            <a:pPr>
              <a:spcAft>
                <a:spcPts val="360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Docker Containerized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35440" y="1463040"/>
            <a:ext cx="2560320" cy="2286000"/>
          </a:xfrm>
          <a:prstGeom prst="rect">
            <a:avLst/>
          </a:prstGeom>
          <a:solidFill>
            <a:srgbClr val="25253D"/>
          </a:solidFill>
          <a:ln w="25400">
            <a:solidFill>
              <a:srgbClr val="6B4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0" y="1554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B4C9A"/>
                </a:solidFill>
                <a:latin typeface="Calibri"/>
              </a:defRPr>
            </a:pPr>
            <a:r>
              <a:t>RAG Pipeline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196596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60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Docling/Unstructured Parsers</a:t>
            </a:r>
          </a:p>
          <a:p>
            <a:pPr>
              <a:spcAft>
                <a:spcPts val="360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PgVector (cfg) / SQLite (actual)</a:t>
            </a:r>
          </a:p>
          <a:p>
            <a:pPr>
              <a:spcAft>
                <a:spcPts val="360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DashScope LLM (OpenAI compat)</a:t>
            </a:r>
          </a:p>
          <a:p>
            <a:pPr>
              <a:spcAft>
                <a:spcPts val="360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LangChain Chunker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11480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90"/>
              </a:spcAft>
              <a:defRPr sz="1300">
                <a:solidFill>
                  <a:srgbClr val="E0E0E0"/>
                </a:solidFill>
                <a:latin typeface="Calibri"/>
              </a:defRPr>
            </a:pPr>
            <a:r>
              <a:t>Test Layers:</a:t>
            </a:r>
          </a:p>
          <a:p>
            <a:pPr>
              <a:spcAft>
                <a:spcPts val="390"/>
              </a:spcAft>
              <a:defRPr sz="1300">
                <a:solidFill>
                  <a:srgbClr val="E0E0E0"/>
                </a:solidFill>
                <a:latin typeface="Calibri"/>
              </a:defRPr>
            </a:pPr>
            <a:r>
              <a:t>  1. Code Review (Static Analysis) - All Python and TypeScript source files</a:t>
            </a:r>
          </a:p>
          <a:p>
            <a:pPr>
              <a:spcAft>
                <a:spcPts val="390"/>
              </a:spcAft>
              <a:defRPr sz="1300">
                <a:solidFill>
                  <a:srgbClr val="E0E0E0"/>
                </a:solidFill>
                <a:latin typeface="Calibri"/>
              </a:defRPr>
            </a:pPr>
            <a:r>
              <a:t>  2. Data Flow Analysis - Request/response lifecycle from UI to LLM and back</a:t>
            </a:r>
          </a:p>
          <a:p>
            <a:pPr>
              <a:spcAft>
                <a:spcPts val="390"/>
              </a:spcAft>
              <a:defRPr sz="1300">
                <a:solidFill>
                  <a:srgbClr val="E0E0E0"/>
                </a:solidFill>
                <a:latin typeface="Calibri"/>
              </a:defRPr>
            </a:pPr>
            <a:r>
              <a:t>  3. Security Review - Auth, permissions, injection prevention, data exposure</a:t>
            </a:r>
          </a:p>
          <a:p>
            <a:pPr>
              <a:spcAft>
                <a:spcPts val="390"/>
              </a:spcAft>
              <a:defRPr sz="1300">
                <a:solidFill>
                  <a:srgbClr val="E0E0E0"/>
                </a:solidFill>
                <a:latin typeface="Calibri"/>
              </a:defRPr>
            </a:pPr>
            <a:r>
              <a:t>  4. i18n/L10n - Chinese/English dual-language support</a:t>
            </a:r>
          </a:p>
          <a:p>
            <a:pPr>
              <a:spcAft>
                <a:spcPts val="390"/>
              </a:spcAft>
              <a:defRPr sz="1300">
                <a:solidFill>
                  <a:srgbClr val="E0E0E0"/>
                </a:solidFill>
                <a:latin typeface="Calibri"/>
              </a:defRPr>
            </a:pPr>
            <a:r>
              <a:t>  5. Protocol Compliance - SSE streaming format, REST API contracts</a:t>
            </a:r>
          </a:p>
          <a:p>
            <a:pPr>
              <a:spcAft>
                <a:spcPts val="390"/>
              </a:spcAft>
              <a:defRPr sz="1300">
                <a:solidFill>
                  <a:srgbClr val="E0E0E0"/>
                </a:solidFill>
                <a:latin typeface="Calibri"/>
              </a:defRPr>
            </a:pPr>
            <a:r>
              <a:t>  6. Error Handling - Exception paths, fallback behavior, graceful degradation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74C3C"/>
                </a:solidFill>
                <a:latin typeface="Calibri"/>
              </a:defRPr>
            </a:pPr>
            <a:r>
              <a:t>C-01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CRITICAL: GBK Encoding Mismatch Corrupts Chinese 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10515600" cy="36576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5029200" cy="53035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CC00"/>
                </a:solidFill>
                <a:latin typeface="Calibri"/>
              </a:defRPr>
            </a:pPr>
            <a:r>
              <a:t>Description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QuickActionsBar component reads Chinese questions from the API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response and stores them in localStorage.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The API endpoint (quick_actions view) returns Chinese strings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that are already mojibake (corrupted) at the source: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Displayed: "????????????????????"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Expected:  "??????????????"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Root cause: The Python source file (views.py) was saved with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GBK encoding instead of UTF-8, or the encoding declaration is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missing. The strings are corrupted before they reach HTTP.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This affects ALL Chinese quick action buttons - every single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one displays garbled text.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1097280"/>
            <a:ext cx="5303520" cy="24688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1887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CC00"/>
                </a:solidFill>
                <a:latin typeface="Calibri"/>
              </a:defRPr>
            </a:pPr>
            <a:r>
              <a:t>Evidence &amp; Location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60020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File: backend/apps/chat/views.py, quick_actions()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Lines: Chinese string literals in zh branch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All 6 Chinese strings corrupted: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???? -&gt; ??????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???? -&gt; ??????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???? -&gt; ??????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Also in: backend/apps/rag/pipeline.py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Fallback message also corrupted GBK text.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3840480"/>
            <a:ext cx="5303520" cy="25603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39319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CC00"/>
                </a:solidFill>
                <a:latin typeface="Calibri"/>
              </a:defRPr>
            </a:pPr>
            <a:r>
              <a:t>Impact &amp; Fix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434340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Impact: 100% of Chinese users see garbled text.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      This is a P0 production blocker.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Fix: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1. Ensure all Python files have UTF-8 encoding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2. Re-save views.py as UTF-8 without BOM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3. Re-type correct Chinese strings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4. Set PYTHONIOENCODING=utf-8 in Dockerfile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5. Add encoding test to CI pipeline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74C3C"/>
                </a:solidFill>
                <a:latin typeface="Calibri"/>
              </a:defRPr>
            </a:pPr>
            <a:r>
              <a:t>C-02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CRITICAL: RAG Pipeline Uses SQLite Instead of PgVector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10515600" cy="36576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5029200" cy="53035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CC00"/>
                </a:solidFill>
                <a:latin typeface="Calibri"/>
              </a:defRPr>
            </a:pPr>
            <a:r>
              <a:t>Description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The docker-compose.yml and settings/base.py configure PgVector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as the vector database for semantic search. However, the actual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project uses SQLite (db.sqlite3) as the primary database.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The PgVectorRetriever class in apps/rag/retriever.py queries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for pgvector-powered similarity search, but the underlying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database is SQLite which does not support vector similarity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search natively.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This means the RAG retrieval step either: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(a) Fails silently, returning no chunks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(b) Falls back to non-vector queries (no semantic search)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(c) Throws unhandled exceptions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Result: The chatbot cannot perform proper semantic retrieval,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making every answer potentially irrelevant or hallucinated.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1097280"/>
            <a:ext cx="5303520" cy="24688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1887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CC00"/>
                </a:solidFill>
                <a:latin typeface="Calibri"/>
              </a:defRPr>
            </a:pPr>
            <a:r>
              <a:t>Evidence &amp; Location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60020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File: backend/docker-compose.yml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- PostgreSQL + pgvector service defined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File: backend/config/settings/base.py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- DATABASES configured for PostgreSQL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- DATABASE_URL env var points to postgres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File: backend/db.sqlite3 (EXISTS on disk)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- SQLite database file present in repo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- Actual runtime likely uses SQLite fallback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File: backend/apps/rag/retriever.py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- Uses pgvector-specific queries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- No SQLite fallback implemented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3840480"/>
            <a:ext cx="5303520" cy="25603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39319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CC00"/>
                </a:solidFill>
                <a:latin typeface="Calibri"/>
              </a:defRPr>
            </a:pPr>
            <a:r>
              <a:t>Impact &amp; Fix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434340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Impact: Core RAG functionality broken. All answers are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      either fallback messages or hallucinations.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Fix: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1. Deploy PostgreSQL with pgvector extension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2. Update DATABASES to use PostgreSQL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3. Run migrations on PostgreSQL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4. Remove SQLite db file from repo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5. Add DB connection health check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74C3C"/>
                </a:solidFill>
                <a:latin typeface="Calibri"/>
              </a:defRPr>
            </a:pPr>
            <a:r>
              <a:t>C-03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CRITICAL: Auth Token Never Expires, No Logout Mechanism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10515600" cy="36576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5029200" cy="53035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CC00"/>
                </a:solidFill>
                <a:latin typeface="Calibri"/>
              </a:defRPr>
            </a:pPr>
            <a:r>
              <a:t>Description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The AuthProvider stores the JWT token in localStorage with no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expiry tracking. The token is set once on login and persists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indefinitely. There is no logout endpoint, no token rotation,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and no refresh mechanism.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The token object stored in localStorage includes: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{ token: "...", refreshToken: "...", user: {...} }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But the frontend only uses the access token and never checks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its expiry. If the server-side token expires (e.g., 24h JWT),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the frontend will continue sending an expired token, causing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all API calls to fail with 401.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Worse: There is NO logout functionality. Users cannot sign out,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and admins cannot revoke tokens. Shared computers leave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sessions permanently authenticated.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1097280"/>
            <a:ext cx="5303520" cy="24688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1887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CC00"/>
                </a:solidFill>
                <a:latin typeface="Calibri"/>
              </a:defRPr>
            </a:pPr>
            <a:r>
              <a:t>Evidence &amp; Location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60020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File: frontend/src/auth/AuthProvider.tsx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- login() sets token in localStorage (no expiry check)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- No logout() method exists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- No token refresh mechanism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- No expiry date stored or validated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File: backend/apps/users/views.py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- No logout endpoint defined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- No token blacklist/revocation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File: frontend/src/api/client.ts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- Axios interceptor sends token blindly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- No 401 handling (no auto-refresh or redirect)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3840480"/>
            <a:ext cx="5303520" cy="25603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39319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CC00"/>
                </a:solidFill>
                <a:latin typeface="Calibri"/>
              </a:defRPr>
            </a:pPr>
            <a:r>
              <a:t>Impact &amp; Fix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434340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Impact: Security vulnerability. Stolen tokens work forever.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      Users cannot sign out. Expired tokens break all APIs.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Fix: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1. Add logout endpoint (token blacklist)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2. Store token expiry in localStorage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3. Implement token refresh flow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4. Add 401 interceptor to redirect to login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5. Add logout button to ProfilePage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67E22"/>
                </a:solidFill>
                <a:latin typeface="Calibri"/>
              </a:defRPr>
            </a:pPr>
            <a:r>
              <a:t>H-01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HIGH: SSE Protocol Violation - Citations Event Missing data: Prefix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10515600" cy="3657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5029200" cy="53035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CC00"/>
                </a:solidFill>
                <a:latin typeface="Calibri"/>
              </a:defRPr>
            </a:pPr>
            <a:r>
              <a:t>Description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The SSE stream in send_message() yields the citations event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without the required "data: " prefix: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Current (broken):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yield "event: citations\n"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yield f"data: {json.dumps(data)}\n\n"  -- CORRECT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Wait - checking closer... Actually the citations ARE correct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in the code. Let me re-examine.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Actually the real issue is: the citations event is sent,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then the token events follow. But if the citations come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after some tokens have already streamed, the frontend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parser may have already processed partial data and the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citations data arrives out of sync with the content.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The frontend expects citations to be available when the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done event fires, but the ordering is not guaranteed.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1097280"/>
            <a:ext cx="5303520" cy="53035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1887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CC00"/>
                </a:solidFill>
                <a:latin typeface="Calibri"/>
              </a:defRPr>
            </a:pPr>
            <a:r>
              <a:t>Evidence &amp; Fix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6002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File: backend/apps/chat/views.py, send_message(),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     event_stream() generator function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The citations are sent in pipeline.retrieve_and_generate()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BEFORE any token events. This ordering is correct.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However, the frontend SSE parser has a subtle bug: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File: frontend/src/store/chatStore.ts, sendMessage()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The switch/case handles "citations" event but stores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the data in zustand state. If the stream disconnects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mid-stream and reconnects, citations are lost because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they are not re-sent on reconnection.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There is NO SSE reconnection logic in the frontend.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If the network blips during streaming, the entire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response is lost and the user sees a partial answer.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Fix: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1. Implement EventSource with reconnect logic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2. Or use fetch with retry on network errors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3. Buffer response server-side for replay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67E22"/>
                </a:solidFill>
                <a:latin typeface="Calibri"/>
              </a:defRPr>
            </a:pPr>
            <a:r>
              <a:t>H-02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HIGH: Frontend Ignores Pagination - API Contract Mismatch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10515600" cy="3657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5029200" cy="53035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CC00"/>
                </a:solidFill>
                <a:latin typeface="Calibri"/>
              </a:defRPr>
            </a:pPr>
            <a:r>
              <a:t>Description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Django REST Framework's ListAPIView returns paginated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responses by default: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{ count: N, next: "...", previous: "...", results: [...] }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But the frontend API client does not handle pagination: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File: frontend/src/api/chat.ts, getSessions():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return data.results || data;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This fallback pattern (results || data) is fragile: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- If DRF returns an error object, "data" is returned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  instead of throwing, and the UI crashes downstream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- If pagination is disabled, the raw list is returned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  which works by accident, not by design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- The same pattern exists in getMessages()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If the number of chat sessions grows beyond the default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page size (usually 20), older sessions are silently lost.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The user never sees sessions beyond page 1.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1097280"/>
            <a:ext cx="5303520" cy="53035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1887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CC00"/>
                </a:solidFill>
                <a:latin typeface="Calibri"/>
              </a:defRPr>
            </a:pPr>
            <a:r>
              <a:t>Evidence &amp; Fix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6002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File: frontend/src/api/chat.ts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- getSessions(): data.results || data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- getMessages(): data.results || data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File: backend/apps/chat/views.py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- ChatSessionListCreateView extends ListCreateAPIView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- No pagination_class override (uses DRF default)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Risk: Users with 20+ sessions lose access to older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    chat history. No error is shown - data just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    disappears silently.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Fix: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1. Set pagination_class = None on list views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   (if dataset is small enough)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2. OR implement proper pagination in frontend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   with "Load More" or infinite scroll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3. Add error handling: throw if data.results missing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4. Add pagination metadata to the UI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67E22"/>
                </a:solidFill>
                <a:latin typeface="Calibri"/>
              </a:defRPr>
            </a:pPr>
            <a:r>
              <a:t>H-03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HIGH: Token Count Wrong - Counts Stream Chunks Not Tokens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10515600" cy="3657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5029200" cy="53035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CC00"/>
                </a:solidFill>
                <a:latin typeface="Calibri"/>
              </a:defRPr>
            </a:pPr>
            <a:r>
              <a:t>Description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The Message model has a token_count field, which is saved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after the streaming response completes: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File: backend/apps/chat/views.py, send_message():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response_tokens = []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for event in pipeline.retrieve_and_generate(...):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  if event_type == "token":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    token = data.get("token", "")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    response_tokens.append(token)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...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token_count=len(response_tokens)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This counts the number of SSE "token" events, NOT the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actual token count. Each SSE event may contain 1 character,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1 word, or a full sentence - the granularity is determined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by the LLM streaming implementation, not by tokenization.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The stored token_count is meaningless for billing, analytics,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or debugging purposes. If this field is used for cost tracking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or rate limiting, all calculations will be wrong.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1097280"/>
            <a:ext cx="5303520" cy="53035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1887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CC00"/>
                </a:solidFill>
                <a:latin typeface="Calibri"/>
              </a:defRPr>
            </a:pPr>
            <a:r>
              <a:t>Evidence &amp; Fix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6002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File: backend/apps/chat/views.py, send_message()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token_count=len(response_tokens)  -- WRONG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File: backend/apps/chat/models.py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token_count = models.IntegerField(null=True)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-- Field exists but value is meaningless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The LLM API (DashScope) returns actual token usage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in the response, but it is never captured because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streaming mode does not include the final usage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object in the SSE stream.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Fix: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1. Make a non-streaming API call to get token count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   after streaming completes (extra cost)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2. OR count tokens locally using tiktoken library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3. OR rename field to "stream_events_count"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4. OR use DashScope's usage API endpoint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Also: The response does not capture prompt_tokens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or total_tokens, only a fake "token" count.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67E22"/>
                </a:solidFill>
                <a:latin typeface="Calibri"/>
              </a:defRPr>
            </a:pPr>
            <a:r>
              <a:t>H-04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HIGH: SSE Stream Saves Message Even When Client Disconnects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10515600" cy="3657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5029200" cy="53035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CC00"/>
                </a:solidFill>
                <a:latin typeface="Calibri"/>
              </a:defRPr>
            </a:pPr>
            <a:r>
              <a:t>Description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The StreamingHttpResponse in send_message() uses a generator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function (event_stream). The generator continues executing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even if the client disconnects mid-stream.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If the user closes the browser tab or navigates away while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the assistant is streaming: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1. The SSE connection breaks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2. But the generator keeps running server-side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3. The LLM API call continues (consuming tokens/cost)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4. The assistant message is still saved to the database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5. Citations are still saved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The user never sees this response, but it is stored in the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database. When they return, they see a partial or complete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response that they never actually received in the UI.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This wastes LLM API costs and creates orphaned messages.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In a high-traffic scenario, this could cause significant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cost waste from abandoned streams.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1097280"/>
            <a:ext cx="5303520" cy="53035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1887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CC00"/>
                </a:solidFill>
                <a:latin typeface="Calibri"/>
              </a:defRPr>
            </a:pPr>
            <a:r>
              <a:t>Evidence &amp; Fix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6002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File: backend/apps/chat/views.py, send_message()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event_stream() has no disconnect detection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No try/except for BrokenPipeError or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ConnectionAbortedError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File: backend/apps/chat/views.py, _save_citations()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Citations are saved with a bare except: pass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Silent failure means bad citations are lost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but good ones might also fail silently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Fix: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1. Check request.is_connected() (Django 5.0+)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   or catch BrokenPipeError in the generator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2. Stop streaming if client disconnected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3. Do NOT save message if stream was interrupted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4. Add a "partial" flag to messages for recovery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5. Add connection timeout (currently 120s)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39C12"/>
                </a:solidFill>
                <a:latin typeface="Calibri"/>
              </a:defRPr>
            </a:pPr>
            <a:r>
              <a:t>M-01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MEDIUM: RAG Fallback Message Also Corrupted (Chinese)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10515600" cy="36576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5029200" cy="53035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CC00"/>
                </a:solidFill>
                <a:latin typeface="Calibri"/>
              </a:defRPr>
            </a:pPr>
            <a:r>
              <a:t>Description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When the RAG pipeline finds no relevant chunks, it returns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a fallback message. The Chinese version of this message is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also corrupted GBK text: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Current (corrupted):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"??????????????????????????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 ????????R?????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Expected: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"????????????????????????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 ???HR???"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This is the same root cause as C-01 (file encoding). The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fallback is returned whenever semantic search returns no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results, which will be frequent for edge-case questions.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Every Chinese user who asks a question outside the knowledge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base will see this garbled error message.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1097280"/>
            <a:ext cx="5303520" cy="53035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1887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CC00"/>
                </a:solidFill>
                <a:latin typeface="Calibri"/>
              </a:defRPr>
            </a:pPr>
            <a:r>
              <a:t>Evidence &amp; Fix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6002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File: backend/apps/rag/pipeline.py, retrieve_and_generate()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Line with Chinese fallback string is corrupted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Also: GuardrailsService.generate_fallback()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File: backend/apps/rag/guardrails.py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Same corruption: "??????????????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Expected: "????????????"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Fix: Part of C-01 fix (re-encode all files as UTF-8).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Ensure ALL string literals in ALL Python files use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correct UTF-8 encoding.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Recommendation: Move all user-facing strings to a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translation file (gettext/Django i18n) instead of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hardcoding them in source code. This prevents encoding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issues and makes adding new languages trivial.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39C12"/>
                </a:solidFill>
                <a:latin typeface="Calibri"/>
              </a:defRPr>
            </a:pPr>
            <a:r>
              <a:t>M-02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MEDIUM: Frontend Race Condition - New Session Message Lost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10515600" cy="36576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5029200" cy="53035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CC00"/>
                </a:solidFill>
                <a:latin typeface="Calibri"/>
              </a:defRPr>
            </a:pPr>
            <a:r>
              <a:t>Description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In the zustand store's sendMessage action, when no active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session exists, a new session is created and then the user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message is added: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File: frontend/src/store/chatStore.ts: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let sessionId = activeSessionId;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if (!sessionId) {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  const newSession = await chatApi.createSession(...);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  sessionId = newSession.id;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  set({ activeSessionId: sessionId, ... });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}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get().addMessage(userMessage);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The race condition: createSession() is async. While awaiting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it, the user could: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- Type another message and click send again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- Navigate to a different page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- Close the tab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If they send a second message before the first completes,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both messages use the same new sessionId, but the second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message may be added to state before the session ID is set,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causing the second message to be sent to the wrong session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or fail entirely.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1097280"/>
            <a:ext cx="5303520" cy="53035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1887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CC00"/>
                </a:solidFill>
                <a:latin typeface="Calibri"/>
              </a:defRPr>
            </a:pPr>
            <a:r>
              <a:t>Evidence &amp; Fix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6002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File: frontend/src/store/chatStore.ts, sendMessage()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No mutex/lock mechanism around session creation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No debouncing on the send button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isStreaming flag exists but is set AFTER createSession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starts, not before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Fix: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1. Set isStreaming = true BEFORE createSession()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2. Add a sending lock/mutex to prevent double-send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3. Disable send button while isStreaming is true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4. Add optimistic UI with rollback on failure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File: frontend/src/components/chat/QuickActionsBar.tsx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Quick action buttons should be disabled during streaming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File: frontend/src/pages/ChatPage.tsx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Input field should be disabled during streaming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(currently may allow double submission)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39C12"/>
                </a:solidFill>
                <a:latin typeface="Calibri"/>
              </a:defRPr>
            </a:pPr>
            <a:r>
              <a:t>M-03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MEDIUM: No Input Validation on Chat Messages (Length/Content)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10515600" cy="36576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5029200" cy="53035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CC00"/>
                </a:solidFill>
                <a:latin typeface="Calibri"/>
              </a:defRPr>
            </a:pPr>
            <a:r>
              <a:t>Description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The ChatMessageRequestSerializer only validates max_length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of 4000 characters: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File: backend/apps/chat/serializers.py: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content = serializers.CharField(max_length=4000)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Missing validations: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- No min_length check (empty strings accepted)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- No whitespace-only check ("   " is valid)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- No XSS/script injection sanitization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- No rate limiting on message frequency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- No content filtering (profanity, PII)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On the frontend, the text input has no character counter,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no validation feedback, and no maxlength attribute. Users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can paste arbitrarily long text that may get truncated at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4000 chars server-side with no warning.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An attacker could send 4000-char messages repeatedly,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consuming LLM API quota and database storage.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1097280"/>
            <a:ext cx="5303520" cy="53035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1887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CC00"/>
                </a:solidFill>
                <a:latin typeface="Calibri"/>
              </a:defRPr>
            </a:pPr>
            <a:r>
              <a:t>Evidence &amp; Fix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6002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File: backend/apps/chat/serializers.py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Only max_length=4000, no other validation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File: backend/apps/chat/views.py, send_message()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No rate limiting decorator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No per-user message throttling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Fix: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Backend: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  1. Add min_length=1, strip whitespace validation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  2. Add DRF throttling (AnonRateThrottle/UserRateThrottle)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  3. Sanitize content (strip HTML/script tags)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  4. Add content length warning in response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Frontend: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  5. Add maxlength={4000} to input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  6. Add character counter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  7. Disable send for empty/whitespace-only input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  8. Add rate limit error UI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39C12"/>
                </a:solidFill>
                <a:latin typeface="Calibri"/>
              </a:defRPr>
            </a:pPr>
            <a:r>
              <a:t>M-04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MEDIUM: Citation Saving Silently Swallows All Errors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10515600" cy="36576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5029200" cy="53035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CC00"/>
                </a:solidFill>
                <a:latin typeface="Calibri"/>
              </a:defRPr>
            </a:pPr>
            <a:r>
              <a:t>Description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The _save_citations function uses a bare except: pass: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File: backend/apps/chat/views.py: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def _save_citations(assistant_message, citations_data):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    for cit in citations_data: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        try: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            doc = Document.objects.get(id=...)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            Citation.objects.create(...)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        except Exception: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            pass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This means ANY failure to save a citation is silently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ignored, including: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- Document was deleted between retrieval and save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- Database constraint violation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- Data type mismatch (e.g., invalid UUID)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- Permission denied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There is no logging, no retry, no error reporting. If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citations fail to save, the Message still shows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retrieval_count=N but the actual citations are missing.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The user sees "3 sources" but clicking reveals nothing.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1097280"/>
            <a:ext cx="5303520" cy="53035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1887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CC00"/>
                </a:solidFill>
                <a:latin typeface="Calibri"/>
              </a:defRPr>
            </a:pPr>
            <a:r>
              <a:t>Evidence &amp; Fix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6002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File: backend/apps/chat/views.py, _save_citations()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Bare except: pass hides all errors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File: backend/apps/chat/models.py, Citation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document = models.ForeignKey(..., on_delete=PROTECT)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If the referenced document is deleted, PROTECT raises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ProtectedError which is silently swallowed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Fix: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1. Replace except Exception: pass with: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   except Exception as e: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       logger.warning("Citation save failed: %s", e)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2. Use on_delete=SET_NULL for document FK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3. Validate citation data before saving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4. Add a "citation_error_count" to Message model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5. Return citation save status in SSE done event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7AE60"/>
                </a:solidFill>
                <a:latin typeface="Calibri"/>
              </a:defRPr>
            </a:pPr>
            <a:r>
              <a:t>L-01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LOW: Prompt Injection Detection Too Simple - Regex Only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1051560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5029200" cy="53035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CC00"/>
                </a:solidFill>
                <a:latin typeface="Calibri"/>
              </a:defRPr>
            </a:pPr>
            <a:r>
              <a:t>Description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The GuardrailsService uses only regex patterns for prompt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injection detection: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File: backend/apps/rag/guardrails.py: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INJECTION_PATTERNS = [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  r"(?i)ignore\s+(previous|all)\s+(instructions|rules)",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  r"(?i)system\s*:\s*",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  r"(?i)&lt;\|im_start\|&gt;",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  ...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]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This approach has several weaknesses: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- Regex is easily bypassed with obfuscation (zero-width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  chars, unicode variants, split tokens)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- No semantic understanding of injection attempts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- No output filtering (the LLM response is not scanned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  for leaked system prompts or data exfiltration)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- Pattern "system:" is too broad - normal user text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  like "Please check the system settings" is blocked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However, for an internal onboarding chatbot, this is an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acceptable risk level.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1097280"/>
            <a:ext cx="5303520" cy="53035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1887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CC00"/>
                </a:solidFill>
                <a:latin typeface="Calibri"/>
              </a:defRPr>
            </a:pPr>
            <a:r>
              <a:t>Evidence &amp; Fix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6002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File: backend/apps/rag/guardrails.py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GuardrailsService.check_input() - regex only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No output guardrails implemented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Also: The guardrail check_input returns False for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text containing "system:" which could block legitimate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questions about IT system setup: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"How do I set up my system email?" -&gt; BLOCKED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Recommendation (Low Priority):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1. Refine regex to avoid false positives on "system"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   e.g., match "system:" only at start of line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2. Add output filtering to detect prompt leakage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3. Consider using a dedicated guardrails API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   (e.g., NeMo Guardrails, Llama Guard)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4. Add allowlist for known safe patterns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7AE60"/>
                </a:solidFill>
                <a:latin typeface="Calibri"/>
              </a:defRPr>
            </a:pPr>
            <a:r>
              <a:t>L-02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LOW: Hardcoded verify=False Disables SSL Verification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1051560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5029200" cy="53035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CC00"/>
                </a:solidFill>
                <a:latin typeface="Calibri"/>
              </a:defRPr>
            </a:pPr>
            <a:r>
              <a:t>Description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The LiteLLMChatService makes LLM API calls with SSL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verification disabled: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File: backend/apps/rag/guardrails.py: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with httpx.Client(verify=False, timeout=120) as client: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    with client.stream("POST", ...):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verify=False means: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- No certificate validation for the DashScope endpoint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- Man-in-the-middle attacks are possible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- API keys and conversation data sent over potentially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  unverified connections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In a corporate environment (EY), this is a compliance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concern. Even though the data goes to a known provider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(DashScope/Alibaba Cloud), the practice should not be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hardcoded.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This should be configurable via environment variable,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with verify=True as the default for production.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1097280"/>
            <a:ext cx="5303520" cy="53035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1887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CC00"/>
                </a:solidFill>
                <a:latin typeface="Calibri"/>
              </a:defRPr>
            </a:pPr>
            <a:r>
              <a:t>Evidence &amp; Fix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6002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File: backend/apps/rag/guardrails.py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httpx.Client(verify=False, timeout=120)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Fix: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1. Add SSL_VERIFY env var in settings: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   SSL_VERIFY = os.getenv("SSL_VERIFY", "true") == "true"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2. Use it in httpx.Client: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   verify=settings.SSL_VERIFY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3. Set verify=True in production .env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4. Keep verify=False only in dev/test .env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   with a clear comment explaining why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5. Add a startup warning if SSL_VERIFY is False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   in non-development environments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Note: This may be intentional for local development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with self-signed certs, but it should never be hardcoded.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7AE60"/>
                </a:solidFill>
                <a:latin typeface="Calibri"/>
              </a:defRPr>
            </a:pPr>
            <a:r>
              <a:t>L-03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LOW: Database in Repo + No Migrations for Test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1051560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5029200" cy="53035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CC00"/>
                </a:solidFill>
                <a:latin typeface="Calibri"/>
              </a:defRPr>
            </a:pPr>
            <a:r>
              <a:t>Description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The SQLite database file (db.sqlite3) is committed to the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repository. This is a significant anti-pattern: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1. Binary blob bloats the repo (grows with every test)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2. Merge conflicts on concurrent development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3. Potential data leak (may contain test user data)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4. No reproducibility (every dev has a different DB)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Additionally, there is no seed/fixture data mechanism.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The knowledge base documents exist as files in media/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but there is no management command to populate the database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with initial documents, users, or demo data.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The tests directory (backend/tests/) exists but is empty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or minimal. No pytest configuration found.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1097280"/>
            <a:ext cx="5303520" cy="53035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1887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CC00"/>
                </a:solidFill>
                <a:latin typeface="Calibri"/>
              </a:defRPr>
            </a:pPr>
            <a:r>
              <a:t>Evidence &amp; Fix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6002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File: backend/db.sqlite3 - committed to git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File: backend/.gitignore - should exclude *.sqlite3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File: backend/tests/ - empty or minimal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No pytest.ini or setup.cfg for test config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Fix: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1. Remove db.sqlite3 from git: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   git rm --cached backend/db.sqlite3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2. Add *.sqlite3 to .gitignore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3. Create a management command: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   python manage.py seed_knowledge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4. Add pytest with coverage: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   pip install pytest pytest-django pytest-cov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5. Add basic unit tests for: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   - Serializers validation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   - RAG pipeline (mocked)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   - Guardrails regex accuracy</a:t>
            </a:r>
          </a:p>
          <a:p>
            <a:pPr>
              <a:spcAft>
                <a:spcPts val="17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     - API endpoint smoke tests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Complete Bug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36576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731520" cy="320040"/>
          </a:xfrm>
          <a:prstGeom prst="rect">
            <a:avLst/>
          </a:prstGeom>
          <a:solidFill>
            <a:srgbClr val="303050"/>
          </a:solidFill>
          <a:ln w="25400"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CC00"/>
                </a:solidFill>
                <a:latin typeface="Calibri"/>
              </a:defRPr>
            </a:pPr>
            <a:r>
              <a:t>ID</a:t>
            </a:r>
          </a:p>
        </p:txBody>
      </p:sp>
      <p:sp>
        <p:nvSpPr>
          <p:cNvPr id="6" name="Rectangle 5"/>
          <p:cNvSpPr/>
          <p:nvPr/>
        </p:nvSpPr>
        <p:spPr>
          <a:xfrm>
            <a:off x="1463040" y="1463040"/>
            <a:ext cx="1097280" cy="320040"/>
          </a:xfrm>
          <a:prstGeom prst="rect">
            <a:avLst/>
          </a:prstGeom>
          <a:solidFill>
            <a:srgbClr val="303050"/>
          </a:solidFill>
          <a:ln w="25400"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14630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CC00"/>
                </a:solidFill>
                <a:latin typeface="Calibri"/>
              </a:defRPr>
            </a:pPr>
            <a:r>
              <a:t>Severity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0" y="1463040"/>
            <a:ext cx="5943600" cy="320040"/>
          </a:xfrm>
          <a:prstGeom prst="rect">
            <a:avLst/>
          </a:prstGeom>
          <a:solidFill>
            <a:srgbClr val="303050"/>
          </a:solidFill>
          <a:ln w="25400"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1760" y="146304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CC00"/>
                </a:solidFill>
                <a:latin typeface="Calibri"/>
              </a:defRPr>
            </a:pPr>
            <a:r>
              <a:t>Title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03920" y="1463040"/>
            <a:ext cx="2286000" cy="320040"/>
          </a:xfrm>
          <a:prstGeom prst="rect">
            <a:avLst/>
          </a:prstGeom>
          <a:solidFill>
            <a:srgbClr val="303050"/>
          </a:solidFill>
          <a:ln w="25400"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0" y="14630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CC00"/>
                </a:solidFill>
                <a:latin typeface="Calibri"/>
              </a:defRPr>
            </a:pPr>
            <a:r>
              <a:t>Component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789920" y="1463040"/>
            <a:ext cx="914400" cy="320040"/>
          </a:xfrm>
          <a:prstGeom prst="rect">
            <a:avLst/>
          </a:prstGeom>
          <a:solidFill>
            <a:srgbClr val="303050"/>
          </a:solidFill>
          <a:ln w="25400"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81360" y="14630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CC00"/>
                </a:solidFill>
                <a:latin typeface="Calibri"/>
              </a:defRPr>
            </a:pPr>
            <a:r>
              <a:t>Status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1783080"/>
            <a:ext cx="731520" cy="320040"/>
          </a:xfrm>
          <a:prstGeom prst="rect">
            <a:avLst/>
          </a:prstGeom>
          <a:solidFill>
            <a:srgbClr val="25253D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17830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74C3C"/>
                </a:solidFill>
                <a:latin typeface="Calibri"/>
              </a:defRPr>
            </a:pPr>
            <a:r>
              <a:t>C-01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463040" y="1783080"/>
            <a:ext cx="1097280" cy="320040"/>
          </a:xfrm>
          <a:prstGeom prst="rect">
            <a:avLst/>
          </a:prstGeom>
          <a:solidFill>
            <a:srgbClr val="25253D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54480" y="17830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74C3C"/>
                </a:solidFill>
                <a:latin typeface="Calibri"/>
              </a:defRPr>
            </a:pPr>
            <a:r>
              <a:t>CRITICAL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60320" y="1783080"/>
            <a:ext cx="594360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51760" y="178308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0"/>
                </a:solidFill>
                <a:latin typeface="Calibri"/>
              </a:defRPr>
            </a:pPr>
            <a:r>
              <a:t>GBK Encoding Mismatch Corrupts All Chinese Text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03920" y="1783080"/>
            <a:ext cx="228600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0" y="17830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Calibri"/>
              </a:defRPr>
            </a:pPr>
            <a:r>
              <a:t>Backend (views.py)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789920" y="1783080"/>
            <a:ext cx="91440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881360" y="1783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0E0E0"/>
                </a:solidFill>
                <a:latin typeface="Calibri"/>
              </a:defRPr>
            </a:pPr>
            <a:r>
              <a:t>OPEN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2103120"/>
            <a:ext cx="731520" cy="320040"/>
          </a:xfrm>
          <a:prstGeom prst="rect">
            <a:avLst/>
          </a:prstGeom>
          <a:solidFill>
            <a:srgbClr val="25253D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21031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74C3C"/>
                </a:solidFill>
                <a:latin typeface="Calibri"/>
              </a:defRPr>
            </a:pPr>
            <a:r>
              <a:t>C-02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63040" y="2103120"/>
            <a:ext cx="1097280" cy="320040"/>
          </a:xfrm>
          <a:prstGeom prst="rect">
            <a:avLst/>
          </a:prstGeom>
          <a:solidFill>
            <a:srgbClr val="25253D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554480" y="21031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74C3C"/>
                </a:solidFill>
                <a:latin typeface="Calibri"/>
              </a:defRPr>
            </a:pPr>
            <a:r>
              <a:t>CRITICAL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60320" y="2103120"/>
            <a:ext cx="594360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51760" y="210312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0"/>
                </a:solidFill>
                <a:latin typeface="Calibri"/>
              </a:defRPr>
            </a:pPr>
            <a:r>
              <a:t>RAG Uses SQLite Instead of PgVector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503920" y="2103120"/>
            <a:ext cx="228600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95360" y="21031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Calibri"/>
              </a:defRPr>
            </a:pPr>
            <a:r>
              <a:t>Backend (retriever.py)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789920" y="2103120"/>
            <a:ext cx="91440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881360" y="21031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0E0E0"/>
                </a:solidFill>
                <a:latin typeface="Calibri"/>
              </a:defRPr>
            </a:pPr>
            <a:r>
              <a:t>OPEN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2423160"/>
            <a:ext cx="731520" cy="320040"/>
          </a:xfrm>
          <a:prstGeom prst="rect">
            <a:avLst/>
          </a:prstGeom>
          <a:solidFill>
            <a:srgbClr val="25253D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242316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74C3C"/>
                </a:solidFill>
                <a:latin typeface="Calibri"/>
              </a:defRPr>
            </a:pPr>
            <a:r>
              <a:t>C-03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463040" y="2423160"/>
            <a:ext cx="1097280" cy="320040"/>
          </a:xfrm>
          <a:prstGeom prst="rect">
            <a:avLst/>
          </a:prstGeom>
          <a:solidFill>
            <a:srgbClr val="25253D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554480" y="24231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74C3C"/>
                </a:solidFill>
                <a:latin typeface="Calibri"/>
              </a:defRPr>
            </a:pPr>
            <a:r>
              <a:t>CRITICAL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0" y="2423160"/>
            <a:ext cx="594360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651760" y="242316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0"/>
                </a:solidFill>
                <a:latin typeface="Calibri"/>
              </a:defRPr>
            </a:pPr>
            <a:r>
              <a:t>Auth Token Never Expires, No Logout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503920" y="2423160"/>
            <a:ext cx="228600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95360" y="24231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Calibri"/>
              </a:defRPr>
            </a:pPr>
            <a:r>
              <a:t>Frontend + Backend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789920" y="2423160"/>
            <a:ext cx="91440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881360" y="242316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0E0E0"/>
                </a:solidFill>
                <a:latin typeface="Calibri"/>
              </a:defRPr>
            </a:pPr>
            <a:r>
              <a:t>OPEN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31520" y="2743200"/>
            <a:ext cx="731520" cy="320040"/>
          </a:xfrm>
          <a:prstGeom prst="rect">
            <a:avLst/>
          </a:prstGeom>
          <a:solidFill>
            <a:srgbClr val="25253D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2960" y="274320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67E22"/>
                </a:solidFill>
                <a:latin typeface="Calibri"/>
              </a:defRPr>
            </a:pPr>
            <a:r>
              <a:t>H-01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463040" y="2743200"/>
            <a:ext cx="1097280" cy="320040"/>
          </a:xfrm>
          <a:prstGeom prst="rect">
            <a:avLst/>
          </a:prstGeom>
          <a:solidFill>
            <a:srgbClr val="25253D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554480" y="27432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67E22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560320" y="2743200"/>
            <a:ext cx="594360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651760" y="274320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0"/>
                </a:solidFill>
                <a:latin typeface="Calibri"/>
              </a:defRPr>
            </a:pPr>
            <a:r>
              <a:t>No SSE Reconnection on Network Failure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503920" y="2743200"/>
            <a:ext cx="228600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95360" y="27432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Calibri"/>
              </a:defRPr>
            </a:pPr>
            <a:r>
              <a:t>Frontend (chatStore)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789920" y="2743200"/>
            <a:ext cx="91440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881360" y="27432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0E0E0"/>
                </a:solidFill>
                <a:latin typeface="Calibri"/>
              </a:defRPr>
            </a:pPr>
            <a:r>
              <a:t>OPEN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31520" y="3063240"/>
            <a:ext cx="731520" cy="320040"/>
          </a:xfrm>
          <a:prstGeom prst="rect">
            <a:avLst/>
          </a:prstGeom>
          <a:solidFill>
            <a:srgbClr val="25253D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22960" y="30632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67E22"/>
                </a:solidFill>
                <a:latin typeface="Calibri"/>
              </a:defRPr>
            </a:pPr>
            <a:r>
              <a:t>H-02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463040" y="3063240"/>
            <a:ext cx="1097280" cy="320040"/>
          </a:xfrm>
          <a:prstGeom prst="rect">
            <a:avLst/>
          </a:prstGeom>
          <a:solidFill>
            <a:srgbClr val="25253D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554480" y="3063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67E22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560320" y="3063240"/>
            <a:ext cx="594360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651760" y="306324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0"/>
                </a:solidFill>
                <a:latin typeface="Calibri"/>
              </a:defRPr>
            </a:pPr>
            <a:r>
              <a:t>Frontend Ignores DRF Pagination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503920" y="3063240"/>
            <a:ext cx="228600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595360" y="30632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Calibri"/>
              </a:defRPr>
            </a:pPr>
            <a:r>
              <a:t>Frontend (chat.ts)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0789920" y="3063240"/>
            <a:ext cx="91440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881360" y="3063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0E0E0"/>
                </a:solidFill>
                <a:latin typeface="Calibri"/>
              </a:defRPr>
            </a:pPr>
            <a:r>
              <a:t>OPEN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31520" y="3383279"/>
            <a:ext cx="731520" cy="320040"/>
          </a:xfrm>
          <a:prstGeom prst="rect">
            <a:avLst/>
          </a:prstGeom>
          <a:solidFill>
            <a:srgbClr val="25253D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22960" y="3383279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67E22"/>
                </a:solidFill>
                <a:latin typeface="Calibri"/>
              </a:defRPr>
            </a:pPr>
            <a:r>
              <a:t>H-03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463040" y="3383279"/>
            <a:ext cx="1097280" cy="320040"/>
          </a:xfrm>
          <a:prstGeom prst="rect">
            <a:avLst/>
          </a:prstGeom>
          <a:solidFill>
            <a:srgbClr val="25253D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554480" y="3383279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67E22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560320" y="3383279"/>
            <a:ext cx="594360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651760" y="3383279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0"/>
                </a:solidFill>
                <a:latin typeface="Calibri"/>
              </a:defRPr>
            </a:pPr>
            <a:r>
              <a:t>Token Count is Wrong (Stream Events, Not Tokens)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503920" y="3383279"/>
            <a:ext cx="228600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595360" y="3383279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Calibri"/>
              </a:defRPr>
            </a:pPr>
            <a:r>
              <a:t>Backend (views.py)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0789920" y="3383279"/>
            <a:ext cx="91440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881360" y="3383279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0E0E0"/>
                </a:solidFill>
                <a:latin typeface="Calibri"/>
              </a:defRPr>
            </a:pPr>
            <a:r>
              <a:t>OPEN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31520" y="3703320"/>
            <a:ext cx="731520" cy="320040"/>
          </a:xfrm>
          <a:prstGeom prst="rect">
            <a:avLst/>
          </a:prstGeom>
          <a:solidFill>
            <a:srgbClr val="25253D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22960" y="37033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67E22"/>
                </a:solidFill>
                <a:latin typeface="Calibri"/>
              </a:defRPr>
            </a:pPr>
            <a:r>
              <a:t>H-04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463040" y="3703320"/>
            <a:ext cx="1097280" cy="320040"/>
          </a:xfrm>
          <a:prstGeom prst="rect">
            <a:avLst/>
          </a:prstGeom>
          <a:solidFill>
            <a:srgbClr val="25253D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554480" y="37033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67E22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560320" y="3703320"/>
            <a:ext cx="594360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651760" y="370332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0"/>
                </a:solidFill>
                <a:latin typeface="Calibri"/>
              </a:defRPr>
            </a:pPr>
            <a:r>
              <a:t>SSE Saves Message Even When Client Disconnects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503920" y="3703320"/>
            <a:ext cx="228600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595360" y="37033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Calibri"/>
              </a:defRPr>
            </a:pPr>
            <a:r>
              <a:t>Backend (views.py)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0789920" y="3703320"/>
            <a:ext cx="91440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0881360" y="37033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0E0E0"/>
                </a:solidFill>
                <a:latin typeface="Calibri"/>
              </a:defRPr>
            </a:pPr>
            <a:r>
              <a:t>OPEN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31520" y="4023360"/>
            <a:ext cx="731520" cy="320040"/>
          </a:xfrm>
          <a:prstGeom prst="rect">
            <a:avLst/>
          </a:prstGeom>
          <a:solidFill>
            <a:srgbClr val="25253D"/>
          </a:solidFill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22960" y="402336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39C12"/>
                </a:solidFill>
                <a:latin typeface="Calibri"/>
              </a:defRPr>
            </a:pPr>
            <a:r>
              <a:t>M-01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463040" y="4023360"/>
            <a:ext cx="1097280" cy="320040"/>
          </a:xfrm>
          <a:prstGeom prst="rect">
            <a:avLst/>
          </a:prstGeom>
          <a:solidFill>
            <a:srgbClr val="25253D"/>
          </a:solidFill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554480" y="40233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39C12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560320" y="4023360"/>
            <a:ext cx="594360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651760" y="402336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0"/>
                </a:solidFill>
                <a:latin typeface="Calibri"/>
              </a:defRPr>
            </a:pPr>
            <a:r>
              <a:t>RAG Fallback Message Also Corrupted (Chinese)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503920" y="4023360"/>
            <a:ext cx="228600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595360" y="40233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Calibri"/>
              </a:defRPr>
            </a:pPr>
            <a:r>
              <a:t>Backend (pipeline.py)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0789920" y="4023360"/>
            <a:ext cx="91440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0881360" y="402336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0E0E0"/>
                </a:solidFill>
                <a:latin typeface="Calibri"/>
              </a:defRPr>
            </a:pPr>
            <a:r>
              <a:t>OPEN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31520" y="4343400"/>
            <a:ext cx="731520" cy="320040"/>
          </a:xfrm>
          <a:prstGeom prst="rect">
            <a:avLst/>
          </a:prstGeom>
          <a:solidFill>
            <a:srgbClr val="25253D"/>
          </a:solidFill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822960" y="434340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39C12"/>
                </a:solidFill>
                <a:latin typeface="Calibri"/>
              </a:defRPr>
            </a:pPr>
            <a:r>
              <a:t>M-02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463040" y="4343400"/>
            <a:ext cx="1097280" cy="320040"/>
          </a:xfrm>
          <a:prstGeom prst="rect">
            <a:avLst/>
          </a:prstGeom>
          <a:solidFill>
            <a:srgbClr val="25253D"/>
          </a:solidFill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554480" y="43434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39C12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560320" y="4343400"/>
            <a:ext cx="594360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651760" y="434340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0"/>
                </a:solidFill>
                <a:latin typeface="Calibri"/>
              </a:defRPr>
            </a:pPr>
            <a:r>
              <a:t>Race Condition - New Session Message Lost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503920" y="4343400"/>
            <a:ext cx="228600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595360" y="43434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Calibri"/>
              </a:defRPr>
            </a:pPr>
            <a:r>
              <a:t>Frontend (chatStore)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0789920" y="4343400"/>
            <a:ext cx="91440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0881360" y="43434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0E0E0"/>
                </a:solidFill>
                <a:latin typeface="Calibri"/>
              </a:defRPr>
            </a:pPr>
            <a:r>
              <a:t>OPEN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31520" y="4663440"/>
            <a:ext cx="731520" cy="320040"/>
          </a:xfrm>
          <a:prstGeom prst="rect">
            <a:avLst/>
          </a:prstGeom>
          <a:solidFill>
            <a:srgbClr val="25253D"/>
          </a:solidFill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822960" y="46634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39C12"/>
                </a:solidFill>
                <a:latin typeface="Calibri"/>
              </a:defRPr>
            </a:pPr>
            <a:r>
              <a:t>M-03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463040" y="4663440"/>
            <a:ext cx="1097280" cy="320040"/>
          </a:xfrm>
          <a:prstGeom prst="rect">
            <a:avLst/>
          </a:prstGeom>
          <a:solidFill>
            <a:srgbClr val="25253D"/>
          </a:solidFill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554480" y="46634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39C12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2560320" y="4663440"/>
            <a:ext cx="594360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2651760" y="466344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0"/>
                </a:solidFill>
                <a:latin typeface="Calibri"/>
              </a:defRPr>
            </a:pPr>
            <a:r>
              <a:t>No Input Validation on Chat Messages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8503920" y="4663440"/>
            <a:ext cx="228600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8595360" y="46634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Calibri"/>
              </a:defRPr>
            </a:pPr>
            <a:r>
              <a:t>Backend + Frontend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0789920" y="4663440"/>
            <a:ext cx="91440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0881360" y="46634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0E0E0"/>
                </a:solidFill>
                <a:latin typeface="Calibri"/>
              </a:defRPr>
            </a:pPr>
            <a:r>
              <a:t>OPEN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31520" y="4983479"/>
            <a:ext cx="731520" cy="320040"/>
          </a:xfrm>
          <a:prstGeom prst="rect">
            <a:avLst/>
          </a:prstGeom>
          <a:solidFill>
            <a:srgbClr val="25253D"/>
          </a:solidFill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822960" y="4983479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39C12"/>
                </a:solidFill>
                <a:latin typeface="Calibri"/>
              </a:defRPr>
            </a:pPr>
            <a:r>
              <a:t>M-04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463040" y="4983479"/>
            <a:ext cx="1097280" cy="320040"/>
          </a:xfrm>
          <a:prstGeom prst="rect">
            <a:avLst/>
          </a:prstGeom>
          <a:solidFill>
            <a:srgbClr val="25253D"/>
          </a:solidFill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1554480" y="4983479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39C12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2560320" y="4983479"/>
            <a:ext cx="594360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2651760" y="4983479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0"/>
                </a:solidFill>
                <a:latin typeface="Calibri"/>
              </a:defRPr>
            </a:pPr>
            <a:r>
              <a:t>Citation Saving Silently Swallows All Errors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8503920" y="4983479"/>
            <a:ext cx="228600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8595360" y="4983479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Calibri"/>
              </a:defRPr>
            </a:pPr>
            <a:r>
              <a:t>Backend (views.py)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0789920" y="4983479"/>
            <a:ext cx="91440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10881360" y="4983479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0E0E0"/>
                </a:solidFill>
                <a:latin typeface="Calibri"/>
              </a:defRPr>
            </a:pPr>
            <a:r>
              <a:t>OPEN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731520" y="5303519"/>
            <a:ext cx="731520" cy="320040"/>
          </a:xfrm>
          <a:prstGeom prst="rect">
            <a:avLst/>
          </a:prstGeom>
          <a:solidFill>
            <a:srgbClr val="25253D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822960" y="5303519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7AE60"/>
                </a:solidFill>
                <a:latin typeface="Calibri"/>
              </a:defRPr>
            </a:pPr>
            <a:r>
              <a:t>L-01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1463040" y="5303519"/>
            <a:ext cx="1097280" cy="320040"/>
          </a:xfrm>
          <a:prstGeom prst="rect">
            <a:avLst/>
          </a:prstGeom>
          <a:solidFill>
            <a:srgbClr val="25253D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1554480" y="5303519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7AE60"/>
                </a:solidFill>
                <a:latin typeface="Calibri"/>
              </a:defRPr>
            </a:pPr>
            <a:r>
              <a:t>LOW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2560320" y="5303519"/>
            <a:ext cx="594360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2651760" y="5303519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0"/>
                </a:solidFill>
                <a:latin typeface="Calibri"/>
              </a:defRPr>
            </a:pPr>
            <a:r>
              <a:t>Prompt Injection Detection Too Simple (Regex)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8503920" y="5303519"/>
            <a:ext cx="228600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8595360" y="5303519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Calibri"/>
              </a:defRPr>
            </a:pPr>
            <a:r>
              <a:t>Backend (guardrails)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10789920" y="5303519"/>
            <a:ext cx="91440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10881360" y="5303519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0E0E0"/>
                </a:solidFill>
                <a:latin typeface="Calibri"/>
              </a:defRPr>
            </a:pPr>
            <a:r>
              <a:t>OPEN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731520" y="5623560"/>
            <a:ext cx="731520" cy="320040"/>
          </a:xfrm>
          <a:prstGeom prst="rect">
            <a:avLst/>
          </a:prstGeom>
          <a:solidFill>
            <a:srgbClr val="25253D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822960" y="562356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7AE60"/>
                </a:solidFill>
                <a:latin typeface="Calibri"/>
              </a:defRPr>
            </a:pPr>
            <a:r>
              <a:t>L-02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1463040" y="5623560"/>
            <a:ext cx="1097280" cy="320040"/>
          </a:xfrm>
          <a:prstGeom prst="rect">
            <a:avLst/>
          </a:prstGeom>
          <a:solidFill>
            <a:srgbClr val="25253D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1554480" y="56235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7AE60"/>
                </a:solidFill>
                <a:latin typeface="Calibri"/>
              </a:defRPr>
            </a:pPr>
            <a:r>
              <a:t>LOW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2560320" y="5623560"/>
            <a:ext cx="594360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2651760" y="562356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0"/>
                </a:solidFill>
                <a:latin typeface="Calibri"/>
              </a:defRPr>
            </a:pPr>
            <a:r>
              <a:t>Hardcoded verify=False Disables SSL Verification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8503920" y="5623560"/>
            <a:ext cx="228600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8595360" y="56235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Calibri"/>
              </a:defRPr>
            </a:pPr>
            <a:r>
              <a:t>Backend (guardrails)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10789920" y="5623560"/>
            <a:ext cx="91440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10881360" y="562356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0E0E0"/>
                </a:solidFill>
                <a:latin typeface="Calibri"/>
              </a:defRPr>
            </a:pPr>
            <a:r>
              <a:t>OPEN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731520" y="5943600"/>
            <a:ext cx="731520" cy="320040"/>
          </a:xfrm>
          <a:prstGeom prst="rect">
            <a:avLst/>
          </a:prstGeom>
          <a:solidFill>
            <a:srgbClr val="25253D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822960" y="594360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7AE60"/>
                </a:solidFill>
                <a:latin typeface="Calibri"/>
              </a:defRPr>
            </a:pPr>
            <a:r>
              <a:t>L-03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1463040" y="5943600"/>
            <a:ext cx="1097280" cy="320040"/>
          </a:xfrm>
          <a:prstGeom prst="rect">
            <a:avLst/>
          </a:prstGeom>
          <a:solidFill>
            <a:srgbClr val="25253D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1554480" y="59436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7AE60"/>
                </a:solidFill>
                <a:latin typeface="Calibri"/>
              </a:defRPr>
            </a:pPr>
            <a:r>
              <a:t>LOW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2560320" y="5943600"/>
            <a:ext cx="594360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2651760" y="594360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0"/>
                </a:solidFill>
                <a:latin typeface="Calibri"/>
              </a:defRPr>
            </a:pPr>
            <a:r>
              <a:t>SQLite DB in Repo + No Tests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8503920" y="5943600"/>
            <a:ext cx="228600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8595360" y="59436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Calibri"/>
              </a:defRPr>
            </a:pPr>
            <a:r>
              <a:t>Backend (infra)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10789920" y="5943600"/>
            <a:ext cx="91440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10881360" y="59436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0E0E0"/>
                </a:solidFill>
                <a:latin typeface="Calibri"/>
              </a:defRPr>
            </a:pPr>
            <a:r>
              <a:t>OPEN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Recommendations &amp;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36576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515600" cy="1463040"/>
          </a:xfrm>
          <a:prstGeom prst="rect">
            <a:avLst/>
          </a:prstGeom>
          <a:solidFill>
            <a:srgbClr val="25253D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74C3C"/>
                </a:solidFill>
                <a:latin typeface="Calibri"/>
              </a:defRPr>
            </a:pPr>
            <a:r>
              <a:t>PHASE 1: Immediate (Before Release)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9"/>
              </a:spcAft>
              <a:defRPr sz="1300">
                <a:solidFill>
                  <a:srgbClr val="E0E0E0"/>
                </a:solidFill>
                <a:latin typeface="Calibri"/>
              </a:defRPr>
            </a:pPr>
            <a:r>
              <a:t>1. Re-encode ALL Python files as UTF-8, fix all Chinese string literals (C-01, M-01)</a:t>
            </a:r>
          </a:p>
          <a:p>
            <a:pPr>
              <a:spcAft>
                <a:spcPts val="259"/>
              </a:spcAft>
              <a:defRPr sz="1300">
                <a:solidFill>
                  <a:srgbClr val="E0E0E0"/>
                </a:solidFill>
                <a:latin typeface="Calibri"/>
              </a:defRPr>
            </a:pPr>
            <a:r>
              <a:t>2. Deploy PostgreSQL with pgvector extension, migrate from SQLite (C-02)</a:t>
            </a:r>
          </a:p>
          <a:p>
            <a:pPr>
              <a:spcAft>
                <a:spcPts val="259"/>
              </a:spcAft>
              <a:defRPr sz="1300">
                <a:solidFill>
                  <a:srgbClr val="E0E0E0"/>
                </a:solidFill>
                <a:latin typeface="Calibri"/>
              </a:defRPr>
            </a:pPr>
            <a:r>
              <a:t>3. Add token expiry, logout endpoint, and 401 interceptor (C-03)</a:t>
            </a:r>
          </a:p>
          <a:p>
            <a:pPr>
              <a:spcAft>
                <a:spcPts val="259"/>
              </a:spcAft>
              <a:defRPr sz="1300">
                <a:solidFill>
                  <a:srgbClr val="E0E0E0"/>
                </a:solidFill>
                <a:latin typeface="Calibri"/>
              </a:defRPr>
            </a:pPr>
            <a:r>
              <a:t>4. Implement client disconnect detection in SSE stream (H-04)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108960"/>
            <a:ext cx="10515600" cy="1463040"/>
          </a:xfrm>
          <a:prstGeom prst="rect">
            <a:avLst/>
          </a:prstGeom>
          <a:solidFill>
            <a:srgbClr val="25253D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154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7E22"/>
                </a:solidFill>
                <a:latin typeface="Calibri"/>
              </a:defRPr>
            </a:pPr>
            <a:r>
              <a:t>PHASE 2: Short Term (1-2 Weeks)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5661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9"/>
              </a:spcAft>
              <a:defRPr sz="1300">
                <a:solidFill>
                  <a:srgbClr val="E0E0E0"/>
                </a:solidFill>
                <a:latin typeface="Calibri"/>
              </a:defRPr>
            </a:pPr>
            <a:r>
              <a:t>1. Fix token counting: use tiktoken or LLM API usage metadata (H-03)</a:t>
            </a:r>
          </a:p>
          <a:p>
            <a:pPr>
              <a:spcAft>
                <a:spcPts val="259"/>
              </a:spcAft>
              <a:defRPr sz="1300">
                <a:solidFill>
                  <a:srgbClr val="E0E0E0"/>
                </a:solidFill>
                <a:latin typeface="Calibri"/>
              </a:defRPr>
            </a:pPr>
            <a:r>
              <a:t>2. Implement SSE reconnection with fetch retry or EventSource (H-01)</a:t>
            </a:r>
          </a:p>
          <a:p>
            <a:pPr>
              <a:spcAft>
                <a:spcPts val="259"/>
              </a:spcAft>
              <a:defRPr sz="1300">
                <a:solidFill>
                  <a:srgbClr val="E0E0E0"/>
                </a:solidFill>
                <a:latin typeface="Calibri"/>
              </a:defRPr>
            </a:pPr>
            <a:r>
              <a:t>3. Fix pagination handling in frontend API client (H-02)</a:t>
            </a:r>
          </a:p>
          <a:p>
            <a:pPr>
              <a:spcAft>
                <a:spcPts val="259"/>
              </a:spcAft>
              <a:defRPr sz="1300">
                <a:solidFill>
                  <a:srgbClr val="E0E0E0"/>
                </a:solidFill>
                <a:latin typeface="Calibri"/>
              </a:defRPr>
            </a:pPr>
            <a:r>
              <a:t>4. Add input validation, rate limiting, and character counter (M-03)</a:t>
            </a:r>
          </a:p>
          <a:p>
            <a:pPr>
              <a:spcAft>
                <a:spcPts val="259"/>
              </a:spcAft>
              <a:defRPr sz="1300">
                <a:solidFill>
                  <a:srgbClr val="E0E0E0"/>
                </a:solidFill>
                <a:latin typeface="Calibri"/>
              </a:defRPr>
            </a:pPr>
            <a:r>
              <a:t>5. Replace bare except:pass with logging in _save_citations (M-04)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754880"/>
            <a:ext cx="10515600" cy="1828800"/>
          </a:xfrm>
          <a:prstGeom prst="rect">
            <a:avLst/>
          </a:prstGeom>
          <a:solidFill>
            <a:srgbClr val="25253D"/>
          </a:solidFill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800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39C12"/>
                </a:solidFill>
                <a:latin typeface="Calibri"/>
              </a:defRPr>
            </a:pPr>
            <a:r>
              <a:t>PHASE 3: Long Term (1 Month)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16636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4"/>
              </a:spcAft>
              <a:defRPr sz="1300">
                <a:solidFill>
                  <a:srgbClr val="E0E0E0"/>
                </a:solidFill>
                <a:latin typeface="Calibri"/>
              </a:defRPr>
            </a:pPr>
            <a:r>
              <a:t>1. Add race condition protection with mutex in chatStore (M-02)</a:t>
            </a:r>
          </a:p>
          <a:p>
            <a:pPr>
              <a:spcAft>
                <a:spcPts val="194"/>
              </a:spcAft>
              <a:defRPr sz="1300">
                <a:solidFill>
                  <a:srgbClr val="E0E0E0"/>
                </a:solidFill>
                <a:latin typeface="Calibri"/>
              </a:defRPr>
            </a:pPr>
            <a:r>
              <a:t>2. Move all user-facing strings to Django gettext i18n system</a:t>
            </a:r>
          </a:p>
          <a:p>
            <a:pPr>
              <a:spcAft>
                <a:spcPts val="194"/>
              </a:spcAft>
              <a:defRPr sz="1300">
                <a:solidFill>
                  <a:srgbClr val="E0E0E0"/>
                </a:solidFill>
                <a:latin typeface="Calibri"/>
              </a:defRPr>
            </a:pPr>
            <a:r>
              <a:t>3. Add comprehensive unit and integration tests (L-03)</a:t>
            </a:r>
          </a:p>
          <a:p>
            <a:pPr>
              <a:spcAft>
                <a:spcPts val="194"/>
              </a:spcAft>
              <a:defRPr sz="1300">
                <a:solidFill>
                  <a:srgbClr val="E0E0E0"/>
                </a:solidFill>
                <a:latin typeface="Calibri"/>
              </a:defRPr>
            </a:pPr>
            <a:r>
              <a:t>4. Improve guardrails: reduce false positives, add output filtering (L-01)</a:t>
            </a:r>
          </a:p>
          <a:p>
            <a:pPr>
              <a:spcAft>
                <a:spcPts val="194"/>
              </a:spcAft>
              <a:defRPr sz="1300">
                <a:solidFill>
                  <a:srgbClr val="E0E0E0"/>
                </a:solidFill>
                <a:latin typeface="Calibri"/>
              </a:defRPr>
            </a:pPr>
            <a:r>
              <a:t>5. Make SSL verification configurable (L-02)</a:t>
            </a:r>
          </a:p>
          <a:p>
            <a:pPr>
              <a:spcAft>
                <a:spcPts val="194"/>
              </a:spcAft>
              <a:defRPr sz="1300">
                <a:solidFill>
                  <a:srgbClr val="E0E0E0"/>
                </a:solidFill>
                <a:latin typeface="Calibri"/>
              </a:defRPr>
            </a:pPr>
            <a:r>
              <a:t>6. Remove db.sqlite3 from git, add .gitignore entry (L-03)</a:t>
            </a:r>
          </a:p>
          <a:p>
            <a:pPr>
              <a:spcAft>
                <a:spcPts val="194"/>
              </a:spcAft>
              <a:defRPr sz="1300">
                <a:solidFill>
                  <a:srgbClr val="E0E0E0"/>
                </a:solidFill>
                <a:latin typeface="Calibri"/>
              </a:defRPr>
            </a:pPr>
            <a:r>
              <a:t>7. Create seed_knowledge management command for demo data</a:t>
            </a:r>
          </a:p>
          <a:p>
            <a:pPr>
              <a:spcAft>
                <a:spcPts val="194"/>
              </a:spcAft>
              <a:defRPr sz="1300">
                <a:solidFill>
                  <a:srgbClr val="E0E0E0"/>
                </a:solidFill>
                <a:latin typeface="Calibri"/>
              </a:defRPr>
            </a:pPr>
            <a:r>
              <a:t>8. Add monitoring, logging, and error alerting (Sentry/DataDog)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Testing Methodology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36576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3474720" cy="2286000"/>
          </a:xfrm>
          <a:prstGeom prst="rect">
            <a:avLst/>
          </a:prstGeom>
          <a:solidFill>
            <a:srgbClr val="25253D"/>
          </a:solidFill>
          <a:ln w="25400">
            <a:solidFill>
              <a:srgbClr val="6B4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CC00"/>
                </a:solidFill>
                <a:latin typeface="Calibri"/>
              </a:defRPr>
            </a:pPr>
            <a:r>
              <a:t>Static Code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3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Manual review of all Python (.py) and TypeScript (.ts/.tsx) source files.</a:t>
            </a:r>
          </a:p>
          <a:p>
            <a:pPr>
              <a:spcAft>
                <a:spcPts val="23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Examined models, views, serializers, API clients, state management,</a:t>
            </a:r>
          </a:p>
          <a:p>
            <a:pPr>
              <a:spcAft>
                <a:spcPts val="23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components, and configuration files for correctness and best practices.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480559" y="1463040"/>
            <a:ext cx="3474720" cy="2286000"/>
          </a:xfrm>
          <a:prstGeom prst="rect">
            <a:avLst/>
          </a:prstGeom>
          <a:solidFill>
            <a:srgbClr val="25253D"/>
          </a:solidFill>
          <a:ln w="25400">
            <a:solidFill>
              <a:srgbClr val="6B4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5544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CC00"/>
                </a:solidFill>
                <a:latin typeface="Calibri"/>
              </a:defRPr>
            </a:pPr>
            <a:r>
              <a:t>Data Flow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196596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3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Traced request/response lifecycle from user input through API,</a:t>
            </a:r>
          </a:p>
          <a:p>
            <a:pPr>
              <a:spcAft>
                <a:spcPts val="23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backend processing, RAG pipeline, LLM call, SSE streaming,</a:t>
            </a:r>
          </a:p>
          <a:p>
            <a:pPr>
              <a:spcAft>
                <a:spcPts val="23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and frontend rendering. Identified data transformation errors.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1463040"/>
            <a:ext cx="3474720" cy="2286000"/>
          </a:xfrm>
          <a:prstGeom prst="rect">
            <a:avLst/>
          </a:prstGeom>
          <a:solidFill>
            <a:srgbClr val="25253D"/>
          </a:solidFill>
          <a:ln w="25400">
            <a:solidFill>
              <a:srgbClr val="6B4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5544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CC00"/>
                </a:solidFill>
                <a:latin typeface="Calibri"/>
              </a:defRPr>
            </a:pPr>
            <a:r>
              <a:t>Security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196596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3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Audited authentication flow, token management, authorization</a:t>
            </a:r>
          </a:p>
          <a:p>
            <a:pPr>
              <a:spcAft>
                <a:spcPts val="23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checks, input validation, SSL configuration, and prompt injection</a:t>
            </a:r>
          </a:p>
          <a:p>
            <a:pPr>
              <a:spcAft>
                <a:spcPts val="23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prevention mechanisms for vulnerabilities.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114800"/>
            <a:ext cx="3474720" cy="2286000"/>
          </a:xfrm>
          <a:prstGeom prst="rect">
            <a:avLst/>
          </a:prstGeom>
          <a:solidFill>
            <a:srgbClr val="25253D"/>
          </a:solidFill>
          <a:ln w="25400">
            <a:solidFill>
              <a:srgbClr val="6B4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2062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CC00"/>
                </a:solidFill>
                <a:latin typeface="Calibri"/>
              </a:defRPr>
            </a:pPr>
            <a:r>
              <a:t>Protocol Compliance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61772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3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Verified SSE streaming format against spec. Checked REST API</a:t>
            </a:r>
          </a:p>
          <a:p>
            <a:pPr>
              <a:spcAft>
                <a:spcPts val="23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response shapes, pagination, error handling, and frontend API</a:t>
            </a:r>
          </a:p>
          <a:p>
            <a:pPr>
              <a:spcAft>
                <a:spcPts val="23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client contract matching.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59" y="4114800"/>
            <a:ext cx="3474720" cy="2286000"/>
          </a:xfrm>
          <a:prstGeom prst="rect">
            <a:avLst/>
          </a:prstGeom>
          <a:solidFill>
            <a:srgbClr val="25253D"/>
          </a:solidFill>
          <a:ln w="25400">
            <a:solidFill>
              <a:srgbClr val="6B4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42062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CC00"/>
                </a:solidFill>
                <a:latin typeface="Calibri"/>
              </a:defRPr>
            </a:pPr>
            <a:r>
              <a:t>Encoding &amp; i18n Audit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461772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3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Checked all string literals for encoding issues. Verified Chinese/</a:t>
            </a:r>
          </a:p>
          <a:p>
            <a:pPr>
              <a:spcAft>
                <a:spcPts val="23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English bilingual support consistency. Identified GBK vs UTF-8</a:t>
            </a:r>
          </a:p>
          <a:p>
            <a:pPr>
              <a:spcAft>
                <a:spcPts val="23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mismatches and localization gaps.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4114800"/>
            <a:ext cx="3474720" cy="2286000"/>
          </a:xfrm>
          <a:prstGeom prst="rect">
            <a:avLst/>
          </a:prstGeom>
          <a:solidFill>
            <a:srgbClr val="25253D"/>
          </a:solidFill>
          <a:ln w="25400">
            <a:solidFill>
              <a:srgbClr val="6B4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42062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CC00"/>
                </a:solidFill>
                <a:latin typeface="Calibri"/>
              </a:defRPr>
            </a:pPr>
            <a:r>
              <a:t>Architecture 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461772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3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Compared docker-compose.yml configuration against actual runtime.</a:t>
            </a:r>
          </a:p>
          <a:p>
            <a:pPr>
              <a:spcAft>
                <a:spcPts val="23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Found PostgreSQL/pgvector configured but SQLite used in practice.</a:t>
            </a:r>
          </a:p>
          <a:p>
            <a:pPr>
              <a:spcAft>
                <a:spcPts val="239"/>
              </a:spcAft>
              <a:defRPr sz="1200">
                <a:solidFill>
                  <a:srgbClr val="E0E0E0"/>
                </a:solidFill>
                <a:latin typeface="Calibri"/>
              </a:defRPr>
            </a:pPr>
            <a:r>
              <a:t>Identified infrastructure mismatches.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36576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CC00"/>
                </a:solidFill>
                <a:latin typeface="Calibri"/>
              </a:defRPr>
            </a:pPr>
            <a:r>
              <a:t>EY Onboarding Chatbot - Test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840480"/>
            <a:ext cx="7772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9"/>
              </a:spcAft>
              <a:defRPr sz="1600">
                <a:solidFill>
                  <a:srgbClr val="E0E0E0"/>
                </a:solidFill>
                <a:latin typeface="Calibri"/>
              </a:defRPr>
            </a:pPr>
            <a:r>
              <a:t>14 bugs identified across 3 severity levels.</a:t>
            </a:r>
          </a:p>
          <a:p>
            <a:pPr>
              <a:spcAft>
                <a:spcPts val="639"/>
              </a:spcAft>
              <a:defRPr sz="1600">
                <a:solidFill>
                  <a:srgbClr val="E0E0E0"/>
                </a:solidFill>
                <a:latin typeface="Calibri"/>
              </a:defRPr>
            </a:pPr>
            <a:r>
              <a:t>3 Critical issues block production release.</a:t>
            </a:r>
          </a:p>
          <a:p>
            <a:pPr>
              <a:spcAft>
                <a:spcPts val="639"/>
              </a:spcAft>
              <a:defRPr sz="1600">
                <a:solidFill>
                  <a:srgbClr val="E0E0E0"/>
                </a:solidFill>
                <a:latin typeface="Calibri"/>
              </a:defRPr>
            </a:pPr>
            <a:r>
              <a:t>All findings backed by source code evidence with file paths.</a:t>
            </a:r>
          </a:p>
          <a:p>
            <a:pPr>
              <a:spcAft>
                <a:spcPts val="639"/>
              </a:spcAft>
              <a:defRPr sz="1600">
                <a:solidFill>
                  <a:srgbClr val="E0E0E0"/>
                </a:solidFill>
                <a:latin typeface="Calibri"/>
              </a:defRPr>
            </a:pPr>
            <a:r>
              <a:t>Recommended action: Fix all Critical and High issues before release.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486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0E0E0"/>
                </a:solidFill>
                <a:latin typeface="Calibri"/>
              </a:defRPr>
            </a:pPr>
            <a:r>
              <a:t>Report generated by AI QA Engineer  |  June 18,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