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937760" y="1463040"/>
            <a:ext cx="2286000" cy="914400"/>
          </a:xfrm>
          <a:prstGeom prst="round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262626"/>
                </a:solidFill>
              </a:defRPr>
            </a:pPr>
            <a:r>
              <a:t>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651760"/>
            <a:ext cx="9445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62626"/>
                </a:solidFill>
                <a:latin typeface="Plus Jakarta Sans"/>
              </a:defRPr>
            </a:pPr>
            <a:r>
              <a:t>EY Onboarding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00400"/>
            <a:ext cx="8531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62626"/>
                </a:solidFill>
                <a:latin typeface="Plus Jakarta Sans"/>
              </a:defRPr>
            </a:pPr>
            <a:r>
              <a:t>UI Premium Optimization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840480"/>
            <a:ext cx="7616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C8C8C"/>
                </a:solidFill>
                <a:latin typeface="Plus Jakarta Sans"/>
              </a:defRPr>
            </a:pPr>
            <a:r>
              <a:t>Comprehensive UI/UX Overhaul: Design Tokens · Layout Fixes · Premium Polish · Responsive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4572000"/>
            <a:ext cx="3959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C8C8C"/>
                </a:solidFill>
                <a:latin typeface="Plus Jakarta Sans"/>
              </a:defRPr>
            </a:pPr>
            <a:r>
              <a:t>Date: 2026-06-19  |  Version: 2.0  |  Files Modified: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62626"/>
                </a:solidFill>
                <a:latin typeface="Plus Jakarta Sans"/>
              </a:defRPr>
            </a:pPr>
            <a:r>
              <a:t>Report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E500"/>
                </a:solidFill>
                <a:latin typeface="Plus Jakarta San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188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2626"/>
                </a:solidFill>
                <a:latin typeface="Plus Jakarta Sans"/>
              </a:defRPr>
            </a:pPr>
            <a:r>
              <a:t>Optimization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4173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8C"/>
                </a:solidFill>
                <a:latin typeface="Plus Jakarta Sans"/>
              </a:defRPr>
            </a:pPr>
            <a:r>
              <a:t>Scope, objectives, and design direction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6420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E500"/>
                </a:solidFill>
                <a:latin typeface="Plus Jakarta San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6642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2626"/>
                </a:solidFill>
                <a:latin typeface="Plus Jakarta Sans"/>
              </a:defRPr>
            </a:pPr>
            <a:r>
              <a:t>Design Token Overhaul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89280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8C"/>
                </a:solidFill>
                <a:latin typeface="Plus Jakarta Sans"/>
              </a:defRPr>
            </a:pPr>
            <a:r>
              <a:t>Typography, shadows, noise texture, gradients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39696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E500"/>
                </a:solidFill>
                <a:latin typeface="Plus Jakarta Sans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13969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2626"/>
                </a:solidFill>
                <a:latin typeface="Plus Jakarta Sans"/>
              </a:defRPr>
            </a:pPr>
            <a:r>
              <a:t>Critical Bug Fixes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368296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8C"/>
                </a:solidFill>
                <a:latin typeface="Plus Jakarta Sans"/>
              </a:defRPr>
            </a:pPr>
            <a:r>
              <a:t>12 overflow, responsive, and validation issues resolved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61518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E500"/>
                </a:solidFill>
                <a:latin typeface="Plus Jakarta Sans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61518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2626"/>
                </a:solidFill>
                <a:latin typeface="Plus Jakarta Sans"/>
              </a:defRPr>
            </a:pPr>
            <a:r>
              <a:t>Login Page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843784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8C"/>
                </a:solidFill>
                <a:latin typeface="Plus Jakarta Sans"/>
              </a:defRPr>
            </a:pPr>
            <a:r>
              <a:t>Responsive brand panel, premium styling, page-load animation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09067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E500"/>
                </a:solidFill>
                <a:latin typeface="Plus Jakarta Sans"/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0906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2626"/>
                </a:solidFill>
                <a:latin typeface="Plus Jakarta Sans"/>
              </a:defRPr>
            </a:pPr>
            <a:r>
              <a:t>Welcome Screen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331927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8C"/>
                </a:solidFill>
                <a:latin typeface="Plus Jakarta Sans"/>
              </a:defRPr>
            </a:pPr>
            <a:r>
              <a:t>Premium card buttons, logo upgrade, hover micro-interactions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5661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E500"/>
                </a:solidFill>
                <a:latin typeface="Plus Jakarta Sans"/>
              </a:defRPr>
            </a:pPr>
            <a: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3566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2626"/>
                </a:solidFill>
                <a:latin typeface="Plus Jakarta Sans"/>
              </a:defRPr>
            </a:pPr>
            <a:r>
              <a:t>Chat Page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379476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8C"/>
                </a:solidFill>
                <a:latin typeface="Plus Jakarta Sans"/>
              </a:defRPr>
            </a:pPr>
            <a:r>
              <a:t>Input area redesign, streaming fixes, thinking indicator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04164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E500"/>
                </a:solidFill>
                <a:latin typeface="Plus Jakarta Sans"/>
              </a:defRPr>
            </a:pPr>
            <a: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0416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2626"/>
                </a:solidFill>
                <a:latin typeface="Plus Jakarta Sans"/>
              </a:defRPr>
            </a:pPr>
            <a:r>
              <a:t>Message Bubbles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27024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8C"/>
                </a:solidFill>
                <a:latin typeface="Plus Jakarta Sans"/>
              </a:defRPr>
            </a:pPr>
            <a:r>
              <a:t>Overflow fixes, cursor polish, hover elevation, entrance animations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517136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E500"/>
                </a:solidFill>
                <a:latin typeface="Plus Jakarta Sans"/>
              </a:defRPr>
            </a:pPr>
            <a:r>
              <a:t>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451713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2626"/>
                </a:solidFill>
                <a:latin typeface="Plus Jakarta Sans"/>
              </a:defRPr>
            </a:pPr>
            <a:r>
              <a:t>Profile &amp; Dark Mode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4745736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8C"/>
                </a:solidFill>
                <a:latin typeface="Plus Jakarta Sans"/>
              </a:defRPr>
            </a:pPr>
            <a:r>
              <a:t>Dark mode toggle, refined tokens, responsive layout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99262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E500"/>
                </a:solidFill>
                <a:latin typeface="Plus Jakarta Sans"/>
              </a:defRPr>
            </a:pPr>
            <a:r>
              <a:t>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499262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2626"/>
                </a:solidFill>
                <a:latin typeface="Plus Jakarta Sans"/>
              </a:defRPr>
            </a:pPr>
            <a:r>
              <a:t>Knowledge Base &amp; History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5221224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8C"/>
                </a:solidFill>
                <a:latin typeface="Plus Jakarta Sans"/>
              </a:defRPr>
            </a:pPr>
            <a:r>
              <a:t>Table scroll, upload validation, delete confirmation, empty state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46811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E500"/>
                </a:solidFill>
                <a:latin typeface="Plus Jakarta Sans"/>
              </a:defRPr>
            </a:pPr>
            <a: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546811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2626"/>
                </a:solidFill>
                <a:latin typeface="Plus Jakarta Sans"/>
              </a:defRPr>
            </a:pPr>
            <a:r>
              <a:t>Responsive Design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37360" y="569671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8C"/>
                </a:solidFill>
                <a:latin typeface="Plus Jakarta Sans"/>
              </a:defRPr>
            </a:pPr>
            <a:r>
              <a:t>Desktop (1440px), Tablet (768px), Mobile (375px)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9436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E500"/>
                </a:solidFill>
                <a:latin typeface="Plus Jakarta Sans"/>
              </a:defRPr>
            </a:pPr>
            <a: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37360" y="5943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2626"/>
                </a:solidFill>
                <a:latin typeface="Plus Jakarta Sans"/>
              </a:defRPr>
            </a:pPr>
            <a:r>
              <a:t>Summary &amp; Metrics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37360" y="617220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8C"/>
                </a:solidFill>
                <a:latin typeface="Plus Jakarta Sans"/>
              </a:defRPr>
            </a:pPr>
            <a:r>
              <a:t>Before/after comparison and improvements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62626"/>
                </a:solidFill>
                <a:latin typeface="Plus Jakarta Sans"/>
              </a:defRPr>
            </a:pPr>
            <a:r>
              <a:t>01  Optimization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62626"/>
                </a:solidFill>
                <a:latin typeface="Plus Jakarta Sans"/>
              </a:defRPr>
            </a:pPr>
            <a:r>
              <a:t>Why Optimize?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62626"/>
                </a:solidFill>
                <a:latin typeface="Plus Jakarta Sans"/>
              </a:defRPr>
            </a:pPr>
            <a:r>
              <a:t>• Generic system fonts (Arial, Roboto) — lacked brand identity</a:t>
            </a:r>
          </a:p>
          <a:p>
            <a:pPr>
              <a:spcAft>
                <a:spcPts val="400"/>
              </a:spcAft>
              <a:defRPr sz="1100">
                <a:solidFill>
                  <a:srgbClr val="262626"/>
                </a:solidFill>
                <a:latin typeface="Plus Jakarta Sans"/>
              </a:defRPr>
            </a:pPr>
            <a:r>
              <a:t>• Zero responsive design — no media queries, broken on mobile/tablet</a:t>
            </a:r>
          </a:p>
          <a:p>
            <a:pPr>
              <a:spcAft>
                <a:spcPts val="400"/>
              </a:spcAft>
              <a:defRPr sz="1100">
                <a:solidFill>
                  <a:srgbClr val="262626"/>
                </a:solidFill>
                <a:latin typeface="Plus Jakarta Sans"/>
              </a:defRPr>
            </a:pPr>
            <a:r>
              <a:t>• Critical overflow bugs — URLs, citation titles, tables broke containers</a:t>
            </a:r>
          </a:p>
          <a:p>
            <a:pPr>
              <a:spcAft>
                <a:spcPts val="400"/>
              </a:spcAft>
              <a:defRPr sz="1100">
                <a:solidFill>
                  <a:srgbClr val="262626"/>
                </a:solidFill>
                <a:latin typeface="Plus Jakarta Sans"/>
              </a:defRPr>
            </a:pPr>
            <a:r>
              <a:t>• Flat, basic shadows — no visual depth or premium feel</a:t>
            </a:r>
          </a:p>
          <a:p>
            <a:pPr>
              <a:spcAft>
                <a:spcPts val="400"/>
              </a:spcAft>
              <a:defRPr sz="1100">
                <a:solidFill>
                  <a:srgbClr val="262626"/>
                </a:solidFill>
                <a:latin typeface="Plus Jakarta Sans"/>
              </a:defRPr>
            </a:pPr>
            <a:r>
              <a:t>• No micro-interactions — static, no hover states or transitions</a:t>
            </a:r>
          </a:p>
          <a:p>
            <a:pPr>
              <a:spcAft>
                <a:spcPts val="400"/>
              </a:spcAft>
              <a:defRPr sz="1100">
                <a:solidFill>
                  <a:srgbClr val="262626"/>
                </a:solidFill>
                <a:latin typeface="Plus Jakarta Sans"/>
              </a:defRPr>
            </a:pPr>
            <a:r>
              <a:t>• Login brand panel broke on screens &lt; 800px</a:t>
            </a:r>
          </a:p>
          <a:p>
            <a:pPr>
              <a:spcAft>
                <a:spcPts val="400"/>
              </a:spcAft>
              <a:defRPr sz="1100">
                <a:solidFill>
                  <a:srgbClr val="262626"/>
                </a:solidFill>
                <a:latin typeface="Plus Jakarta Sans"/>
              </a:defRPr>
            </a:pPr>
            <a:r>
              <a:t>• Knowledge Base: no table scroll, upload validation, or delete confirm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62626"/>
                </a:solidFill>
                <a:latin typeface="Plus Jakarta Sans"/>
              </a:defRPr>
            </a:pPr>
            <a:r>
              <a:t>Design Direction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62626"/>
                </a:solidFill>
                <a:latin typeface="Plus Jakarta Sans"/>
              </a:defRPr>
            </a:pPr>
            <a:r>
              <a:t>• Style: Luxury / Refined Minimalism</a:t>
            </a:r>
          </a:p>
          <a:p>
            <a:pPr>
              <a:spcAft>
                <a:spcPts val="400"/>
              </a:spcAft>
              <a:defRPr sz="1100">
                <a:solidFill>
                  <a:srgbClr val="262626"/>
                </a:solidFill>
                <a:latin typeface="Plus Jakarta Sans"/>
              </a:defRPr>
            </a:pPr>
            <a:r>
              <a:t>• Typography: Plus Jakarta Sans (geometric, modern, professional)</a:t>
            </a:r>
          </a:p>
          <a:p>
            <a:pPr>
              <a:spcAft>
                <a:spcPts val="400"/>
              </a:spcAft>
              <a:defRPr sz="1100">
                <a:solidFill>
                  <a:srgbClr val="262626"/>
                </a:solidFill>
                <a:latin typeface="Plus Jakarta Sans"/>
              </a:defRPr>
            </a:pPr>
            <a:r>
              <a:t>• Colors: EY Yellow (#FFE500) surgical accent + Black (#262626)</a:t>
            </a:r>
          </a:p>
          <a:p>
            <a:pPr>
              <a:spcAft>
                <a:spcPts val="400"/>
              </a:spcAft>
              <a:defRPr sz="1100">
                <a:solidFill>
                  <a:srgbClr val="262626"/>
                </a:solidFill>
                <a:latin typeface="Plus Jakarta Sans"/>
              </a:defRPr>
            </a:pPr>
            <a:r>
              <a:t>• Shadows: Layered premium depth, 4 levels + yellow glow</a:t>
            </a:r>
          </a:p>
          <a:p>
            <a:pPr>
              <a:spcAft>
                <a:spcPts val="400"/>
              </a:spcAft>
              <a:defRPr sz="1100">
                <a:solidFill>
                  <a:srgbClr val="262626"/>
                </a:solidFill>
                <a:latin typeface="Plus Jakarta Sans"/>
              </a:defRPr>
            </a:pPr>
            <a:r>
              <a:t>• Texture: Subtle noise overlay (opacity 0.015)</a:t>
            </a:r>
          </a:p>
          <a:p>
            <a:pPr>
              <a:spcAft>
                <a:spcPts val="400"/>
              </a:spcAft>
              <a:defRPr sz="1100">
                <a:solidFill>
                  <a:srgbClr val="262626"/>
                </a:solidFill>
                <a:latin typeface="Plus Jakarta Sans"/>
              </a:defRPr>
            </a:pPr>
            <a:r>
              <a:t>• Animations: Subtle micro-interactions (fade-in, hover elevation)</a:t>
            </a:r>
          </a:p>
          <a:p>
            <a:pPr>
              <a:spcAft>
                <a:spcPts val="400"/>
              </a:spcAft>
              <a:defRPr sz="1100">
                <a:solidFill>
                  <a:srgbClr val="262626"/>
                </a:solidFill>
                <a:latin typeface="Plus Jakarta Sans"/>
              </a:defRPr>
            </a:pPr>
            <a:r>
              <a:t>• Responsive: Breakpoints at 375px, 576px, 768px, 992px, 1440px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29200"/>
            <a:ext cx="10698480" cy="1280160"/>
          </a:xfrm>
          <a:prstGeom prst="round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2626"/>
                </a:solidFill>
                <a:latin typeface="Plus Jakarta Sans"/>
              </a:defRPr>
            </a:pPr>
            <a:r>
              <a:t>Scope: All Pages — 10 Files Modified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8C8C8C"/>
                </a:solidFill>
                <a:latin typeface="Plus Jakarta Sans"/>
              </a:defRPr>
            </a:pPr>
            <a:r>
              <a:t>Login Page  |  Chat Page (Welcome + Messages)  |  Profile Page  |  History Page  |  Knowledge Base Page</a:t>
            </a:r>
          </a:p>
          <a:p>
            <a:pPr>
              <a:spcAft>
                <a:spcPts val="400"/>
              </a:spcAft>
              <a:defRPr sz="1100">
                <a:solidFill>
                  <a:srgbClr val="8C8C8C"/>
                </a:solidFill>
                <a:latin typeface="Plus Jakarta Sans"/>
              </a:defRPr>
            </a:pPr>
            <a:r>
              <a:t>12 Critical Bugs Fixed  |  20+ UI Improvements  |  6 New Animations  |  Full Responsive System  |  Dark Mode Toggle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62626"/>
                </a:solidFill>
                <a:latin typeface="Plus Jakarta Sans"/>
              </a:defRPr>
            </a:pPr>
            <a:r>
              <a:t>02  Design Token Overhaul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62626"/>
                </a:solidFill>
                <a:latin typeface="Plus Jakarta Sans"/>
              </a:defRPr>
            </a:pPr>
            <a:r>
              <a:t>Typography Upgrade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02920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C8C8C"/>
                </a:solidFill>
                <a:latin typeface="Plus Jakarta Sans"/>
              </a:defRPr>
            </a:pPr>
            <a:r>
              <a:t>Before: System Fonts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8C8C8C"/>
                </a:solidFill>
                <a:latin typeface="Plus Jakarta Sans"/>
              </a:defRPr>
            </a:pPr>
            <a:r>
              <a:t>Aa Bb Cc Dd Ee Ff Gg 0123456789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8C"/>
                </a:solidFill>
                <a:latin typeface="Plus Jakarta Sans"/>
              </a:defRPr>
            </a:pPr>
            <a:r>
              <a:t>-apple-system, BlinkMacSystemFont, Segoe UI, Roboto, Arial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88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62626"/>
                </a:solidFill>
                <a:latin typeface="Plus Jakarta Sans"/>
              </a:defRPr>
            </a:pPr>
            <a:r>
              <a:t>After: Plus Jakarta Sans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63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62626"/>
                </a:solidFill>
                <a:latin typeface="Plus Jakarta Sans"/>
              </a:defRPr>
            </a:pPr>
            <a:r>
              <a:t>Aa Bb Cc Dd Ee Ff Gg 0123456789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204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8C"/>
                </a:solidFill>
                <a:latin typeface="Plus Jakarta Sans"/>
              </a:defRPr>
            </a:pPr>
            <a:r>
              <a:t>Weights: 300 Light · 400 Regular · 500 Medium · 600 Semibold · 700 Bold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62626"/>
                </a:solidFill>
                <a:latin typeface="Plus Jakarta Sans"/>
              </a:defRPr>
            </a:pPr>
            <a:r>
              <a:t>Layered Premium Shadows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554480"/>
            <a:ext cx="5303520" cy="384048"/>
          </a:xfrm>
          <a:prstGeom prst="round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58191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62626"/>
                </a:solidFill>
                <a:latin typeface="Plus Jakarta Sans"/>
              </a:defRPr>
            </a:pPr>
            <a:r>
              <a:t>shadow-sm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158191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8C"/>
                </a:solidFill>
                <a:latin typeface="Plus Jakarta Sans"/>
              </a:defRPr>
            </a:pPr>
            <a:r>
              <a:t>0 1px 3px rgba(0,0,0,0.04), 0 1px 2px rgba(0,0,0,0.06)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993391"/>
            <a:ext cx="5303520" cy="384048"/>
          </a:xfrm>
          <a:prstGeom prst="roundRect">
            <a:avLst/>
          </a:prstGeom>
          <a:solidFill>
            <a:srgbClr val="FCFCFC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020823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62626"/>
                </a:solidFill>
                <a:latin typeface="Plus Jakarta Sans"/>
              </a:defRPr>
            </a:pPr>
            <a:r>
              <a:t>shadow-md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020823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8C"/>
                </a:solidFill>
                <a:latin typeface="Plus Jakarta Sans"/>
              </a:defRPr>
            </a:pPr>
            <a:r>
              <a:t>0 4px 6px rgba(0,0,0,0.03), 0 2px 4px rgba(0,0,0,0.04)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432304"/>
            <a:ext cx="5303520" cy="384048"/>
          </a:xfrm>
          <a:prstGeom prst="roundRect">
            <a:avLst/>
          </a:prstGeom>
          <a:solidFill>
            <a:srgbClr val="FEFEFE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45973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62626"/>
                </a:solidFill>
                <a:latin typeface="Plus Jakarta Sans"/>
              </a:defRPr>
            </a:pPr>
            <a:r>
              <a:t>shadow-lg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245973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8C"/>
                </a:solidFill>
                <a:latin typeface="Plus Jakarta Sans"/>
              </a:defRPr>
            </a:pPr>
            <a:r>
              <a:t>0 10px 25px rgba(0,0,0,0.06), 0 6px 12px rgba(0,0,0,0.04)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871215"/>
            <a:ext cx="530352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2898647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62626"/>
                </a:solidFill>
                <a:latin typeface="Plus Jakarta Sans"/>
              </a:defRPr>
            </a:pPr>
            <a:r>
              <a:t>shadow-xl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2898647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8C"/>
                </a:solidFill>
                <a:latin typeface="Plus Jakarta Sans"/>
              </a:defRPr>
            </a:pPr>
            <a:r>
              <a:t>0 20px 50px rgba(0,0,0,0.1), 0 10px 20px rgba(0,0,0,0.06)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310128"/>
            <a:ext cx="530352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33375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62626"/>
                </a:solidFill>
                <a:latin typeface="Plus Jakarta Sans"/>
              </a:defRPr>
            </a:pPr>
            <a:r>
              <a:t>shadow-glow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33375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8C"/>
                </a:solidFill>
                <a:latin typeface="Plus Jakarta Sans"/>
              </a:defRPr>
            </a:pPr>
            <a:r>
              <a:t>0 0 20px rgba(255, 229, 0, 0.15) — yellow accent glow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206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62626"/>
                </a:solidFill>
                <a:latin typeface="Plus Jakarta Sans"/>
              </a:defRPr>
            </a:pPr>
            <a:r>
              <a:t>New Animations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57200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62626"/>
                </a:solidFill>
                <a:latin typeface="Plus Jakarta Sans"/>
              </a:defRPr>
            </a:pPr>
            <a:r>
              <a:t>• fadeInUp: page/component entrance (0.35s ease-out)</a:t>
            </a:r>
          </a:p>
          <a:p>
            <a:pPr>
              <a:spcAft>
                <a:spcPts val="400"/>
              </a:spcAft>
              <a:defRPr sz="1100">
                <a:solidFill>
                  <a:srgbClr val="262626"/>
                </a:solidFill>
                <a:latin typeface="Plus Jakarta Sans"/>
              </a:defRPr>
            </a:pPr>
            <a:r>
              <a:t>• fadeIn: subtle reveal for streaming indicators</a:t>
            </a:r>
          </a:p>
          <a:p>
            <a:pPr>
              <a:spcAft>
                <a:spcPts val="400"/>
              </a:spcAft>
              <a:defRPr sz="1100">
                <a:solidFill>
                  <a:srgbClr val="262626"/>
                </a:solidFill>
                <a:latin typeface="Plus Jakarta Sans"/>
              </a:defRPr>
            </a:pPr>
            <a:r>
              <a:t>• dotBounce: thinking dots with staggered delays</a:t>
            </a:r>
          </a:p>
          <a:p>
            <a:pPr>
              <a:spcAft>
                <a:spcPts val="400"/>
              </a:spcAft>
              <a:defRPr sz="1100">
                <a:solidFill>
                  <a:srgbClr val="262626"/>
                </a:solidFill>
                <a:latin typeface="Plus Jakarta Sans"/>
              </a:defRPr>
            </a:pPr>
            <a:r>
              <a:t>• shimmer: loading skeleton with gradient sweep</a:t>
            </a:r>
          </a:p>
          <a:p>
            <a:pPr>
              <a:spcAft>
                <a:spcPts val="400"/>
              </a:spcAft>
              <a:defRPr sz="1100">
                <a:solidFill>
                  <a:srgbClr val="262626"/>
                </a:solidFill>
                <a:latin typeface="Plus Jakarta Sans"/>
              </a:defRPr>
            </a:pPr>
            <a:r>
              <a:t>• pulseGlow: glowing pulse for interactive elements</a:t>
            </a:r>
          </a:p>
          <a:p>
            <a:pPr>
              <a:spcAft>
                <a:spcPts val="400"/>
              </a:spcAft>
              <a:defRPr sz="1100">
                <a:solidFill>
                  <a:srgbClr val="262626"/>
                </a:solidFill>
                <a:latin typeface="Plus Jakarta Sans"/>
              </a:defRPr>
            </a:pPr>
            <a:r>
              <a:t>• blink: smooth cursor blink (0.8s ease-in-out)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206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62626"/>
                </a:solidFill>
                <a:latin typeface="Plus Jakarta Sans"/>
              </a:defRPr>
            </a:pPr>
            <a:r>
              <a:t>Background Enhancements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57200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62626"/>
                </a:solidFill>
                <a:latin typeface="Plus Jakarta Sans"/>
              </a:defRPr>
            </a:pPr>
            <a:r>
              <a:t>• Noise texture overlay via SVG filter (opacity: 0.015)</a:t>
            </a:r>
          </a:p>
          <a:p>
            <a:pPr>
              <a:spcAft>
                <a:spcPts val="400"/>
              </a:spcAft>
              <a:defRPr sz="1100">
                <a:solidFill>
                  <a:srgbClr val="262626"/>
                </a:solidFill>
                <a:latin typeface="Plus Jakarta Sans"/>
              </a:defRPr>
            </a:pPr>
            <a:r>
              <a:t>• Warm gradient: linear-gradient(180deg, rgba(255,229,0,0.02), transparent)</a:t>
            </a:r>
          </a:p>
          <a:p>
            <a:pPr>
              <a:spcAft>
                <a:spcPts val="400"/>
              </a:spcAft>
              <a:defRPr sz="1100">
                <a:solidFill>
                  <a:srgbClr val="262626"/>
                </a:solidFill>
                <a:latin typeface="Plus Jakarta Sans"/>
              </a:defRPr>
            </a:pPr>
            <a:r>
              <a:t>• Firefox scrollbar support: scrollbar-width: thin</a:t>
            </a:r>
          </a:p>
          <a:p>
            <a:pPr>
              <a:spcAft>
                <a:spcPts val="400"/>
              </a:spcAft>
              <a:defRPr sz="1100">
                <a:solidFill>
                  <a:srgbClr val="262626"/>
                </a:solidFill>
                <a:latin typeface="Plus Jakarta Sans"/>
              </a:defRPr>
            </a:pPr>
            <a:r>
              <a:t>• WebKit scrollbar: 6px custom styled with gray thumb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62626"/>
                </a:solidFill>
                <a:latin typeface="Plus Jakarta Sans"/>
              </a:defRPr>
            </a:pPr>
            <a:r>
              <a:t>03  Login Page — Premium Redesign</a:t>
            </a:r>
          </a:p>
        </p:txBody>
      </p:sp>
      <p:pic>
        <p:nvPicPr>
          <p:cNvPr id="4" name="Picture 3" descr="01_login_page_14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5943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75120" y="1005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62626"/>
                </a:solidFill>
                <a:latin typeface="Plus Jakarta Sans"/>
              </a:defRPr>
            </a:pPr>
            <a:r>
              <a:t>Improvements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14630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62626"/>
                </a:solidFill>
                <a:latin typeface="Plus Jakarta Sans"/>
              </a:defRPr>
            </a:pPr>
            <a:r>
              <a:t>✓ Plus Jakarta Sans typography throughout</a:t>
            </a:r>
          </a:p>
          <a:p>
            <a:pPr>
              <a:spcAft>
                <a:spcPts val="600"/>
              </a:spcAft>
              <a:defRPr sz="1100">
                <a:solidFill>
                  <a:srgbClr val="262626"/>
                </a:solidFill>
                <a:latin typeface="Plus Jakarta Sans"/>
              </a:defRPr>
            </a:pPr>
            <a:r>
              <a:t>✓ Refined layered shadows for visual depth</a:t>
            </a:r>
          </a:p>
          <a:p>
            <a:pPr>
              <a:spcAft>
                <a:spcPts val="600"/>
              </a:spcAft>
              <a:defRPr sz="1100">
                <a:solidFill>
                  <a:srgbClr val="262626"/>
                </a:solidFill>
                <a:latin typeface="Plus Jakarta Sans"/>
              </a:defRPr>
            </a:pPr>
            <a:r>
              <a:t>✓ Subtle noise texture background overlay</a:t>
            </a:r>
          </a:p>
          <a:p>
            <a:pPr>
              <a:spcAft>
                <a:spcPts val="600"/>
              </a:spcAft>
              <a:defRPr sz="1100">
                <a:solidFill>
                  <a:srgbClr val="262626"/>
                </a:solidFill>
                <a:latin typeface="Plus Jakarta Sans"/>
              </a:defRPr>
            </a:pPr>
            <a:r>
              <a:t>✓ Warm gradient accent (yellow, 0.02 opacity)</a:t>
            </a:r>
          </a:p>
          <a:p>
            <a:pPr>
              <a:spcAft>
                <a:spcPts val="600"/>
              </a:spcAft>
              <a:defRPr sz="1100">
                <a:solidFill>
                  <a:srgbClr val="262626"/>
                </a:solidFill>
                <a:latin typeface="Plus Jakarta Sans"/>
              </a:defRPr>
            </a:pPr>
            <a:r>
              <a:t>✓ Left-edge yellow gradient accent stripe</a:t>
            </a:r>
          </a:p>
          <a:p>
            <a:pPr>
              <a:spcAft>
                <a:spcPts val="600"/>
              </a:spcAft>
              <a:defRPr sz="1100">
                <a:solidFill>
                  <a:srgbClr val="262626"/>
                </a:solidFill>
                <a:latin typeface="Plus Jakarta Sans"/>
              </a:defRPr>
            </a:pPr>
            <a:r>
              <a:t>✓ Login button with yellow glow on hover</a:t>
            </a:r>
          </a:p>
          <a:p>
            <a:pPr>
              <a:spcAft>
                <a:spcPts val="600"/>
              </a:spcAft>
              <a:defRPr sz="1100">
                <a:solidFill>
                  <a:srgbClr val="262626"/>
                </a:solidFill>
                <a:latin typeface="Plus Jakarta Sans"/>
              </a:defRPr>
            </a:pPr>
            <a:r>
              <a:t>✓ Fade-in animation on load (fadeInUp 0.4s)</a:t>
            </a:r>
          </a:p>
          <a:p>
            <a:pPr>
              <a:spcAft>
                <a:spcPts val="600"/>
              </a:spcAft>
              <a:defRPr sz="1100">
                <a:solidFill>
                  <a:srgbClr val="262626"/>
                </a:solidFill>
                <a:latin typeface="Plus Jakarta Sans"/>
              </a:defRPr>
            </a:pPr>
            <a:r>
              <a:t>✓ Responsive: brand panel hides below 800px</a:t>
            </a:r>
          </a:p>
          <a:p>
            <a:pPr>
              <a:spcAft>
                <a:spcPts val="600"/>
              </a:spcAft>
              <a:defRPr sz="1100">
                <a:solidFill>
                  <a:srgbClr val="262626"/>
                </a:solidFill>
                <a:latin typeface="Plus Jakarta Sans"/>
              </a:defRPr>
            </a:pPr>
            <a:r>
              <a:t>✓ Brand panel 3-stop diagonal gradient for depth</a:t>
            </a:r>
          </a:p>
          <a:p>
            <a:pPr>
              <a:spcAft>
                <a:spcPts val="600"/>
              </a:spcAft>
              <a:defRPr sz="1100">
                <a:solidFill>
                  <a:srgbClr val="262626"/>
                </a:solidFill>
                <a:latin typeface="Plus Jakarta Sans"/>
              </a:defRPr>
            </a:pPr>
            <a:r>
              <a:t>✓ Rounded corners: 8px → 10px (more modern)</a:t>
            </a:r>
          </a:p>
        </p:txBody>
      </p:sp>
      <p:pic>
        <p:nvPicPr>
          <p:cNvPr id="7" name="Picture 6" descr="07_login_page_37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846320"/>
            <a:ext cx="2011680" cy="1828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651760" y="5303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C8C8C"/>
                </a:solidFill>
                <a:latin typeface="Plus Jakarta Sans"/>
              </a:defRPr>
            </a:pPr>
            <a:r>
              <a:t>Mobile (375px): Brand panel hidden, form centered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62626"/>
                </a:solidFill>
                <a:latin typeface="Plus Jakarta Sans"/>
              </a:defRPr>
            </a:pPr>
            <a:r>
              <a:t>04  Welcome Screen — Premium Cards</a:t>
            </a:r>
          </a:p>
        </p:txBody>
      </p:sp>
      <p:pic>
        <p:nvPicPr>
          <p:cNvPr id="4" name="Picture 3" descr="02_welcome_screen_14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685800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1005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62626"/>
                </a:solidFill>
                <a:latin typeface="Plus Jakarta Sans"/>
              </a:defRPr>
            </a:pPr>
            <a:r>
              <a:t>Card Button Redesign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46304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62626"/>
                </a:solidFill>
                <a:latin typeface="Plus Jakarta Sans"/>
              </a:defRPr>
            </a:pPr>
            <a:r>
              <a:t>✓ Replaced Ant Design Buttons with custom card-style divs</a:t>
            </a:r>
          </a:p>
          <a:p>
            <a:pPr>
              <a:spcAft>
                <a:spcPts val="500"/>
              </a:spcAft>
              <a:defRPr sz="1100">
                <a:solidFill>
                  <a:srgbClr val="262626"/>
                </a:solidFill>
                <a:latin typeface="Plus Jakarta Sans"/>
              </a:defRPr>
            </a:pPr>
            <a:r>
              <a:t>✓ Hover: elevation (translateY -2px) + yellow border</a:t>
            </a:r>
          </a:p>
          <a:p>
            <a:pPr>
              <a:spcAft>
                <a:spcPts val="500"/>
              </a:spcAft>
              <a:defRPr sz="1100">
                <a:solidFill>
                  <a:srgbClr val="262626"/>
                </a:solidFill>
                <a:latin typeface="Plus Jakarta Sans"/>
              </a:defRPr>
            </a:pPr>
            <a:r>
              <a:t>✓ Yellow icon accent for visual hierarchy</a:t>
            </a:r>
          </a:p>
          <a:p>
            <a:pPr>
              <a:spcAft>
                <a:spcPts val="500"/>
              </a:spcAft>
              <a:defRPr sz="1100">
                <a:solidFill>
                  <a:srgbClr val="262626"/>
                </a:solidFill>
                <a:latin typeface="Plus Jakarta Sans"/>
              </a:defRPr>
            </a:pPr>
            <a:r>
              <a:t>✓ Generous padding (16px) and gap for breathing room</a:t>
            </a:r>
          </a:p>
          <a:p>
            <a:pPr>
              <a:spcAft>
                <a:spcPts val="500"/>
              </a:spcAft>
              <a:defRPr sz="1100">
                <a:solidFill>
                  <a:srgbClr val="262626"/>
                </a:solidFill>
                <a:latin typeface="Plus Jakarta Sans"/>
              </a:defRPr>
            </a:pPr>
            <a:r>
              <a:t>✓ Smooth cubic-bezier transitions (0.2s)</a:t>
            </a:r>
          </a:p>
          <a:p>
            <a:pPr>
              <a:spcAft>
                <a:spcPts val="500"/>
              </a:spcAft>
              <a:defRPr sz="1100">
                <a:solidFill>
                  <a:srgbClr val="262626"/>
                </a:solidFill>
                <a:latin typeface="Plus Jakarta Sans"/>
              </a:defRPr>
            </a:pPr>
            <a:r>
              <a:t>✓ Minimum height (72px) for consistent sizing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3474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62626"/>
                </a:solidFill>
                <a:latin typeface="Plus Jakarta Sans"/>
              </a:defRPr>
            </a:pPr>
            <a:r>
              <a:t>Logo Upgrade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393192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62626"/>
                </a:solidFill>
                <a:latin typeface="Plus Jakarta Sans"/>
              </a:defRPr>
            </a:pPr>
            <a:r>
              <a:t>✓ Gradient: 145deg #FFE500 → #FDD800</a:t>
            </a:r>
          </a:p>
          <a:p>
            <a:pPr>
              <a:spcAft>
                <a:spcPts val="500"/>
              </a:spcAft>
              <a:defRPr sz="1100">
                <a:solidFill>
                  <a:srgbClr val="262626"/>
                </a:solidFill>
                <a:latin typeface="Plus Jakarta Sans"/>
              </a:defRPr>
            </a:pPr>
            <a:r>
              <a:t>✓ Layered shadow: outer (24px) + inner (8px)</a:t>
            </a:r>
          </a:p>
          <a:p>
            <a:pPr>
              <a:spcAft>
                <a:spcPts val="500"/>
              </a:spcAft>
              <a:defRPr sz="1100">
                <a:solidFill>
                  <a:srgbClr val="262626"/>
                </a:solidFill>
                <a:latin typeface="Plus Jakarta Sans"/>
              </a:defRPr>
            </a:pPr>
            <a:r>
              <a:t>✓ Border-radius: 16px → 18px</a:t>
            </a:r>
          </a:p>
          <a:p>
            <a:pPr>
              <a:spcAft>
                <a:spcPts val="500"/>
              </a:spcAft>
              <a:defRPr sz="1100">
                <a:solidFill>
                  <a:srgbClr val="262626"/>
                </a:solidFill>
                <a:latin typeface="Plus Jakarta Sans"/>
              </a:defRPr>
            </a:pPr>
            <a:r>
              <a:t>✓ fadeInUp entrance animation (0.5s)</a:t>
            </a:r>
          </a:p>
        </p:txBody>
      </p:sp>
      <p:pic>
        <p:nvPicPr>
          <p:cNvPr id="9" name="Picture 8" descr="07_login_page_37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029200"/>
            <a:ext cx="2011680" cy="1645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651760" y="5394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C8C8C"/>
                </a:solidFill>
                <a:latin typeface="Plus Jakarta Sans"/>
              </a:defRPr>
            </a:pPr>
            <a:r>
              <a:t>Mobile: cards stack full-width (xs={24})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62626"/>
                </a:solidFill>
                <a:latin typeface="Plus Jakarta Sans"/>
              </a:defRPr>
            </a:pPr>
            <a:r>
              <a:t>05  Chat Page — Input &amp; Streaming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62626"/>
                </a:solidFill>
                <a:latin typeface="Plus Jakarta Sans"/>
              </a:defRPr>
            </a:pPr>
            <a:r>
              <a:t>Input Area Redesign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62626"/>
                </a:solidFill>
                <a:latin typeface="Plus Jakarta Sans"/>
              </a:defRPr>
            </a:pPr>
            <a:r>
              <a:t>✓ Removed character count — reduces visual clutter</a:t>
            </a:r>
          </a:p>
          <a:p>
            <a:pPr>
              <a:spcAft>
                <a:spcPts val="500"/>
              </a:spcAft>
              <a:defRPr sz="1100">
                <a:solidFill>
                  <a:srgbClr val="262626"/>
                </a:solidFill>
                <a:latin typeface="Plus Jakarta Sans"/>
              </a:defRPr>
            </a:pPr>
            <a:r>
              <a:t>✓ Floating bar: upward shadow 0 -2px 10px rgba(0,0,0,0.03)</a:t>
            </a:r>
          </a:p>
          <a:p>
            <a:pPr>
              <a:spcAft>
                <a:spcPts val="500"/>
              </a:spcAft>
              <a:defRPr sz="1100">
                <a:solidFill>
                  <a:srgbClr val="262626"/>
                </a:solidFill>
                <a:latin typeface="Plus Jakarta Sans"/>
              </a:defRPr>
            </a:pPr>
            <a:r>
              <a:t>✓ Rounded top corners (radius-lg) for card appearance</a:t>
            </a:r>
          </a:p>
          <a:p>
            <a:pPr>
              <a:spcAft>
                <a:spcPts val="500"/>
              </a:spcAft>
              <a:defRPr sz="1100">
                <a:solidFill>
                  <a:srgbClr val="262626"/>
                </a:solidFill>
                <a:latin typeface="Plus Jakarta Sans"/>
              </a:defRPr>
            </a:pPr>
            <a:r>
              <a:t>✓ Generous bottom padding (24px) for comfortable typing</a:t>
            </a:r>
          </a:p>
          <a:p>
            <a:pPr>
              <a:spcAft>
                <a:spcPts val="500"/>
              </a:spcAft>
              <a:defRPr sz="1100">
                <a:solidFill>
                  <a:srgbClr val="262626"/>
                </a:solidFill>
                <a:latin typeface="Plus Jakarta Sans"/>
              </a:defRPr>
            </a:pPr>
            <a:r>
              <a:t>✓ Send button icon-only when input has content</a:t>
            </a:r>
          </a:p>
          <a:p>
            <a:pPr>
              <a:spcAft>
                <a:spcPts val="500"/>
              </a:spcAft>
              <a:defRPr sz="1100">
                <a:solidFill>
                  <a:srgbClr val="262626"/>
                </a:solidFill>
                <a:latin typeface="Plus Jakarta Sans"/>
              </a:defRPr>
            </a:pPr>
            <a:r>
              <a:t>✓ Fixed height: replaced calc() with flexbox layout</a:t>
            </a:r>
          </a:p>
          <a:p>
            <a:pPr>
              <a:spcAft>
                <a:spcPts val="500"/>
              </a:spcAft>
              <a:defRPr sz="1100">
                <a:solidFill>
                  <a:srgbClr val="262626"/>
                </a:solidFill>
                <a:latin typeface="Plus Jakarta Sans"/>
              </a:defRPr>
            </a:pPr>
            <a:r>
              <a:t>✓ Streaming scroll: instant during streaming, smooth for completed</a:t>
            </a:r>
          </a:p>
          <a:p>
            <a:pPr>
              <a:spcAft>
                <a:spcPts val="500"/>
              </a:spcAft>
              <a:defRPr sz="1100">
                <a:solidFill>
                  <a:srgbClr val="262626"/>
                </a:solidFill>
                <a:latin typeface="Plus Jakarta Sans"/>
              </a:defRPr>
            </a:pPr>
            <a:r>
              <a:t>✓ Only scrolls when user is near bottom (&lt; 100px)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62626"/>
                </a:solidFill>
                <a:latin typeface="Plus Jakarta Sans"/>
              </a:defRPr>
            </a:pPr>
            <a:r>
              <a:t>Streaming &amp; Thinking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5544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62626"/>
                </a:solidFill>
                <a:latin typeface="Plus Jakarta Sans"/>
              </a:defRPr>
            </a:pPr>
            <a:r>
              <a:t>✓ Cursor: 2px thin yellow line with subtle glow</a:t>
            </a:r>
          </a:p>
          <a:p>
            <a:pPr>
              <a:spcAft>
                <a:spcPts val="500"/>
              </a:spcAft>
              <a:defRPr sz="1100">
                <a:solidFill>
                  <a:srgbClr val="262626"/>
                </a:solidFill>
                <a:latin typeface="Plus Jakarta Sans"/>
              </a:defRPr>
            </a:pPr>
            <a:r>
              <a:t>✓ Smooth blink (0.8s ease-in-out)</a:t>
            </a:r>
          </a:p>
          <a:p>
            <a:pPr>
              <a:spcAft>
                <a:spcPts val="500"/>
              </a:spcAft>
              <a:defRPr sz="1100">
                <a:solidFill>
                  <a:srgbClr val="262626"/>
                </a:solidFill>
                <a:latin typeface="Plus Jakarta Sans"/>
              </a:defRPr>
            </a:pPr>
            <a:r>
              <a:t>✓ Thinking indicator: 3 animated yellow dots</a:t>
            </a:r>
          </a:p>
          <a:p>
            <a:pPr>
              <a:spcAft>
                <a:spcPts val="500"/>
              </a:spcAft>
              <a:defRPr sz="1100">
                <a:solidFill>
                  <a:srgbClr val="262626"/>
                </a:solidFill>
                <a:latin typeface="Plus Jakarta Sans"/>
              </a:defRPr>
            </a:pPr>
            <a:r>
              <a:t>✓ dotBounce animation with staggered delays</a:t>
            </a:r>
          </a:p>
          <a:p>
            <a:pPr>
              <a:spcAft>
                <a:spcPts val="500"/>
              </a:spcAft>
              <a:defRPr sz="1100">
                <a:solidFill>
                  <a:srgbClr val="262626"/>
                </a:solidFill>
                <a:latin typeface="Plus Jakarta Sans"/>
              </a:defRPr>
            </a:pPr>
            <a:r>
              <a:t>✓ Replaced Ant Design Spin with custom CSS dots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3657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62626"/>
                </a:solidFill>
                <a:latin typeface="Plus Jakarta Sans"/>
              </a:defRPr>
            </a:pPr>
            <a:r>
              <a:t>Message Bubble Fixes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41148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62626"/>
                </a:solidFill>
                <a:latin typeface="Plus Jakarta Sans"/>
              </a:defRPr>
            </a:pPr>
            <a:r>
              <a:t>✓ User messages: overflow-wrap + word-break for long URLs</a:t>
            </a:r>
          </a:p>
          <a:p>
            <a:pPr>
              <a:spcAft>
                <a:spcPts val="500"/>
              </a:spcAft>
              <a:defRPr sz="1100">
                <a:solidFill>
                  <a:srgbClr val="262626"/>
                </a:solidFill>
                <a:latin typeface="Plus Jakarta Sans"/>
              </a:defRPr>
            </a:pPr>
            <a:r>
              <a:t>✓ Markdown: overflow wrapping + pre/code scroll</a:t>
            </a:r>
          </a:p>
          <a:p>
            <a:pPr>
              <a:spcAft>
                <a:spcPts val="500"/>
              </a:spcAft>
              <a:defRPr sz="1100">
                <a:solidFill>
                  <a:srgbClr val="262626"/>
                </a:solidFill>
                <a:latin typeface="Plus Jakarta Sans"/>
              </a:defRPr>
            </a:pPr>
            <a:r>
              <a:t>✓ Citations: overflow:hidden + ellipsis for long titles</a:t>
            </a:r>
          </a:p>
          <a:p>
            <a:pPr>
              <a:spcAft>
                <a:spcPts val="500"/>
              </a:spcAft>
              <a:defRPr sz="1100">
                <a:solidFill>
                  <a:srgbClr val="262626"/>
                </a:solidFill>
                <a:latin typeface="Plus Jakarta Sans"/>
              </a:defRPr>
            </a:pPr>
            <a:r>
              <a:t>✓ Assistant bubbles: hover elevation (shadow-md + -1px)</a:t>
            </a:r>
          </a:p>
          <a:p>
            <a:pPr>
              <a:spcAft>
                <a:spcPts val="500"/>
              </a:spcAft>
              <a:defRPr sz="1100">
                <a:solidFill>
                  <a:srgbClr val="262626"/>
                </a:solidFill>
                <a:latin typeface="Plus Jakarta Sans"/>
              </a:defRPr>
            </a:pPr>
            <a:r>
              <a:t>✓ Message entrance: fadeInUp (0.3s, staggered)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62626"/>
                </a:solidFill>
                <a:latin typeface="Plus Jakarta Sans"/>
              </a:defRPr>
            </a:pPr>
            <a:r>
              <a:t>06  Profile Page &amp; Dark Mode</a:t>
            </a:r>
          </a:p>
        </p:txBody>
      </p:sp>
      <p:pic>
        <p:nvPicPr>
          <p:cNvPr id="4" name="Picture 3" descr="03_profile_page_14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5486400" cy="3291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3891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62626"/>
                </a:solidFill>
                <a:latin typeface="Plus Jakarta Sans"/>
              </a:defRPr>
            </a:pPr>
            <a:r>
              <a:t>Light Mode</a:t>
            </a:r>
          </a:p>
        </p:txBody>
      </p:sp>
      <p:pic>
        <p:nvPicPr>
          <p:cNvPr id="6" name="Picture 5" descr="04_profile_dark_14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05840"/>
            <a:ext cx="548640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43891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62626"/>
                </a:solidFill>
                <a:latin typeface="Plus Jakarta Sans"/>
              </a:defRPr>
            </a:pPr>
            <a:r>
              <a:t>Dark Mode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62626"/>
                </a:solidFill>
                <a:latin typeface="Plus Jakarta Sans"/>
              </a:defRPr>
            </a:pPr>
            <a:r>
              <a:t>Profile Page Improvements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120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62626"/>
                </a:solidFill>
                <a:latin typeface="Plus Jakarta Sans"/>
              </a:defRPr>
            </a:pPr>
            <a:r>
              <a:t>✓ Responsive maxWidth: min(680px, 100%) with centered layout</a:t>
            </a:r>
          </a:p>
          <a:p>
            <a:pPr>
              <a:spcAft>
                <a:spcPts val="400"/>
              </a:spcAft>
              <a:defRPr sz="1100">
                <a:solidFill>
                  <a:srgbClr val="262626"/>
                </a:solidFill>
                <a:latin typeface="Plus Jakarta Sans"/>
              </a:defRPr>
            </a:pPr>
            <a:r>
              <a:t>✓ Dark mode toggle button in header (Sun/Moon icon)</a:t>
            </a:r>
          </a:p>
          <a:p>
            <a:pPr>
              <a:spcAft>
                <a:spcPts val="400"/>
              </a:spcAft>
              <a:defRPr sz="1100">
                <a:solidFill>
                  <a:srgbClr val="262626"/>
                </a:solidFill>
                <a:latin typeface="Plus Jakarta Sans"/>
              </a:defRPr>
            </a:pPr>
            <a:r>
              <a:t>✓ Ant Design tokens: borderRadius 10px, controlHeight 42px</a:t>
            </a:r>
          </a:p>
          <a:p>
            <a:pPr>
              <a:spcAft>
                <a:spcPts val="400"/>
              </a:spcAft>
              <a:defRPr sz="1100">
                <a:solidFill>
                  <a:srgbClr val="262626"/>
                </a:solidFill>
                <a:latin typeface="Plus Jakarta Sans"/>
              </a:defRPr>
            </a:pPr>
            <a:r>
              <a:t>✓ Segmented control for theme selection (Light/Dark/System)</a:t>
            </a:r>
          </a:p>
          <a:p>
            <a:pPr>
              <a:spcAft>
                <a:spcPts val="400"/>
              </a:spcAft>
              <a:defRPr sz="1100">
                <a:solidFill>
                  <a:srgbClr val="262626"/>
                </a:solidFill>
                <a:latin typeface="Plus Jakarta Sans"/>
              </a:defRPr>
            </a:pPr>
            <a:r>
              <a:t>✓ Dark mode applies to all components via CSS variables</a:t>
            </a:r>
          </a:p>
          <a:p>
            <a:pPr>
              <a:spcAft>
                <a:spcPts val="400"/>
              </a:spcAft>
              <a:defRPr sz="1100">
                <a:solidFill>
                  <a:srgbClr val="262626"/>
                </a:solidFill>
                <a:latin typeface="Plus Jakarta Sans"/>
              </a:defRPr>
            </a:pPr>
            <a:r>
              <a:t>✓ Menu items: rounded pills (10px) with yellow left indicator bar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62626"/>
                </a:solidFill>
                <a:latin typeface="Plus Jakarta Sans"/>
              </a:defRPr>
            </a:pPr>
            <a:r>
              <a:t>07  History &amp; Knowledge Base Pages</a:t>
            </a:r>
          </a:p>
        </p:txBody>
      </p:sp>
      <p:pic>
        <p:nvPicPr>
          <p:cNvPr id="4" name="Picture 3" descr="05_history_page_14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5486400" cy="3291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3891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62626"/>
                </a:solidFill>
                <a:latin typeface="Plus Jakarta Sans"/>
              </a:defRPr>
            </a:pPr>
            <a:r>
              <a:t>History Page</a:t>
            </a:r>
          </a:p>
        </p:txBody>
      </p:sp>
      <p:pic>
        <p:nvPicPr>
          <p:cNvPr id="6" name="Picture 5" descr="06_knowledge_base_14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05840"/>
            <a:ext cx="548640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43891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62626"/>
                </a:solidFill>
                <a:latin typeface="Plus Jakarta Sans"/>
              </a:defRPr>
            </a:pPr>
            <a:r>
              <a:t>Knowledge Base 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62626"/>
                </a:solidFill>
                <a:latin typeface="Plus Jakarta Sans"/>
              </a:defRPr>
            </a:pPr>
            <a:r>
              <a:t>Knowledge Base Improvements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120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62626"/>
                </a:solidFill>
                <a:latin typeface="Plus Jakarta Sans"/>
              </a:defRPr>
            </a:pPr>
            <a:r>
              <a:t>✓ Table horizontal scroll: scroll={{ x: "max-content" }}</a:t>
            </a:r>
          </a:p>
          <a:p>
            <a:pPr>
              <a:spcAft>
                <a:spcPts val="400"/>
              </a:spcAft>
              <a:defRPr sz="1100">
                <a:solidFill>
                  <a:srgbClr val="262626"/>
                </a:solidFill>
                <a:latin typeface="Plus Jakarta Sans"/>
              </a:defRPr>
            </a:pPr>
            <a:r>
              <a:t>✓ Upload validation: file type (.pdf/.doc/.docx/.txt/.csv/.xlsx/.pptx) + 50MB limit</a:t>
            </a:r>
          </a:p>
          <a:p>
            <a:pPr>
              <a:spcAft>
                <a:spcPts val="400"/>
              </a:spcAft>
              <a:defRPr sz="1100">
                <a:solidFill>
                  <a:srgbClr val="262626"/>
                </a:solidFill>
                <a:latin typeface="Plus Jakarta Sans"/>
              </a:defRPr>
            </a:pPr>
            <a:r>
              <a:t>✓ Delete confirmation modal: Modal.confirm() with danger type</a:t>
            </a:r>
          </a:p>
          <a:p>
            <a:pPr>
              <a:spcAft>
                <a:spcPts val="400"/>
              </a:spcAft>
              <a:defRPr sz="1100">
                <a:solidFill>
                  <a:srgbClr val="262626"/>
                </a:solidFill>
                <a:latin typeface="Plus Jakarta Sans"/>
              </a:defRPr>
            </a:pPr>
            <a:r>
              <a:t>✓ Custom empty state with helpful message</a:t>
            </a:r>
          </a:p>
          <a:p>
            <a:pPr>
              <a:spcAft>
                <a:spcPts val="400"/>
              </a:spcAft>
              <a:defRPr sz="1100">
                <a:solidFill>
                  <a:srgbClr val="262626"/>
                </a:solidFill>
                <a:latin typeface="Plus Jakarta Sans"/>
              </a:defRPr>
            </a:pPr>
            <a:r>
              <a:t>✓ Refined table: borderRadius 10px, headerBorderRadius 10px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62626"/>
                </a:solidFill>
                <a:latin typeface="Plus Jakarta Sans"/>
              </a:defRPr>
            </a:pPr>
            <a:r>
              <a:t>08  Responsive Design — All Breakpoints</a:t>
            </a:r>
          </a:p>
        </p:txBody>
      </p:sp>
      <p:pic>
        <p:nvPicPr>
          <p:cNvPr id="4" name="Picture 3" descr="10_welcome_screen_7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41148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264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62626"/>
                </a:solidFill>
                <a:latin typeface="Plus Jakarta Sans"/>
              </a:defRPr>
            </a:pPr>
            <a:r>
              <a:t>Tablet (768px)</a:t>
            </a:r>
          </a:p>
        </p:txBody>
      </p:sp>
      <p:pic>
        <p:nvPicPr>
          <p:cNvPr id="6" name="Picture 5" descr="02_welcome_screen_14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00584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54880" y="3383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62626"/>
                </a:solidFill>
                <a:latin typeface="Plus Jakarta Sans"/>
              </a:defRPr>
            </a:pPr>
            <a:r>
              <a:t>Desktop (1440px)</a:t>
            </a:r>
          </a:p>
        </p:txBody>
      </p:sp>
      <p:pic>
        <p:nvPicPr>
          <p:cNvPr id="8" name="Picture 7" descr="07_login_page_37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749039"/>
            <a:ext cx="2286000" cy="2560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75488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62626"/>
                </a:solidFill>
                <a:latin typeface="Plus Jakarta Sans"/>
              </a:defRPr>
            </a:pPr>
            <a:r>
              <a:t>Mobile (375px)</a:t>
            </a:r>
          </a:p>
        </p:txBody>
      </p:sp>
      <p:pic>
        <p:nvPicPr>
          <p:cNvPr id="10" name="Picture 9" descr="09_profile_page_37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3749039"/>
            <a:ext cx="2286000" cy="2560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62626"/>
                </a:solidFill>
                <a:latin typeface="Plus Jakarta Sans"/>
              </a:defRPr>
            </a:pPr>
            <a:r>
              <a:t>Profile (375px)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1005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62626"/>
                </a:solidFill>
                <a:latin typeface="Plus Jakarta Sans"/>
              </a:defRPr>
            </a:pPr>
            <a:r>
              <a:t>Breakpoint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146304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262626"/>
                </a:solidFill>
                <a:latin typeface="Plus Jakarta Sans"/>
              </a:defRPr>
            </a:pPr>
            <a:r>
              <a:t>• 375px: Mobile — sider collapses, single column</a:t>
            </a:r>
          </a:p>
          <a:p>
            <a:pPr>
              <a:spcAft>
                <a:spcPts val="600"/>
              </a:spcAft>
              <a:defRPr sz="1000">
                <a:solidFill>
                  <a:srgbClr val="262626"/>
                </a:solidFill>
                <a:latin typeface="Plus Jakarta Sans"/>
              </a:defRPr>
            </a:pPr>
            <a:r>
              <a:t>• 576px: Small — 2-column quick actions</a:t>
            </a:r>
          </a:p>
          <a:p>
            <a:pPr>
              <a:spcAft>
                <a:spcPts val="600"/>
              </a:spcAft>
              <a:defRPr sz="1000">
                <a:solidFill>
                  <a:srgbClr val="262626"/>
                </a:solidFill>
                <a:latin typeface="Plus Jakarta Sans"/>
              </a:defRPr>
            </a:pPr>
            <a:r>
              <a:t>• 768px: Tablet — sider collapses to 64px icons</a:t>
            </a:r>
          </a:p>
          <a:p>
            <a:pPr>
              <a:spcAft>
                <a:spcPts val="600"/>
              </a:spcAft>
              <a:defRPr sz="1000">
                <a:solidFill>
                  <a:srgbClr val="262626"/>
                </a:solidFill>
                <a:latin typeface="Plus Jakarta Sans"/>
              </a:defRPr>
            </a:pPr>
            <a:r>
              <a:t>• 992px: Desktop — full sider expanded</a:t>
            </a:r>
          </a:p>
          <a:p>
            <a:pPr>
              <a:spcAft>
                <a:spcPts val="600"/>
              </a:spcAft>
              <a:defRPr sz="1000">
                <a:solidFill>
                  <a:srgbClr val="262626"/>
                </a:solidFill>
                <a:latin typeface="Plus Jakarta Sans"/>
              </a:defRPr>
            </a:pPr>
            <a:r>
              <a:t>• 1200px: Large — optimal spacing</a:t>
            </a:r>
          </a:p>
          <a:p>
            <a:pPr>
              <a:spcAft>
                <a:spcPts val="600"/>
              </a:spcAft>
              <a:defRPr sz="1000">
                <a:solidFill>
                  <a:srgbClr val="262626"/>
                </a:solidFill>
                <a:latin typeface="Plus Jakarta Sans"/>
              </a:defRPr>
            </a:pPr>
            <a:r>
              <a:t>• 1440px+: Wide — centered max-width containers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65760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>
                <a:solidFill>
                  <a:srgbClr val="8C8C8C"/>
                </a:solidFill>
                <a:latin typeface="Plus Jakarta Sans"/>
              </a:defRPr>
            </a:pPr>
            <a:r>
              <a:t>• Login: brand panel hides &lt; 800px, stacks vertically</a:t>
            </a:r>
          </a:p>
          <a:p>
            <a:pPr>
              <a:spcAft>
                <a:spcPts val="500"/>
              </a:spcAft>
              <a:defRPr sz="900">
                <a:solidFill>
                  <a:srgbClr val="8C8C8C"/>
                </a:solidFill>
                <a:latin typeface="Plus Jakarta Sans"/>
              </a:defRPr>
            </a:pPr>
            <a:r>
              <a:t>• Sider: collapses at "md" (768px), was "lg" (992px)</a:t>
            </a:r>
          </a:p>
          <a:p>
            <a:pPr>
              <a:spcAft>
                <a:spcPts val="500"/>
              </a:spcAft>
              <a:defRPr sz="900">
                <a:solidFill>
                  <a:srgbClr val="8C8C8C"/>
                </a:solidFill>
                <a:latin typeface="Plus Jakarta Sans"/>
              </a:defRPr>
            </a:pPr>
            <a:r>
              <a:t>• Welcome: xs={24} sm={12} md={8} responsive columns</a:t>
            </a:r>
          </a:p>
          <a:p>
            <a:pPr>
              <a:spcAft>
                <a:spcPts val="500"/>
              </a:spcAft>
              <a:defRPr sz="900">
                <a:solidFill>
                  <a:srgbClr val="8C8C8C"/>
                </a:solidFill>
                <a:latin typeface="Plus Jakarta Sans"/>
              </a:defRPr>
            </a:pPr>
            <a:r>
              <a:t>• Knowledge Base: scroll={{ x: "max-content" }}</a:t>
            </a:r>
          </a:p>
          <a:p>
            <a:pPr>
              <a:spcAft>
                <a:spcPts val="500"/>
              </a:spcAft>
              <a:defRPr sz="900">
                <a:solidFill>
                  <a:srgbClr val="8C8C8C"/>
                </a:solidFill>
                <a:latin typeface="Plus Jakarta Sans"/>
              </a:defRPr>
            </a:pPr>
            <a:r>
              <a:t>• Profile: maxWidth: min(680px, 100%)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62626"/>
                </a:solidFill>
                <a:latin typeface="Plus Jakarta Sans"/>
              </a:defRPr>
            </a:pPr>
            <a:r>
              <a:t>09  Summary &amp;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34747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3474720" cy="54864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E500"/>
                </a:solidFill>
                <a:latin typeface="Plus Jakarta Sans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4591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62626"/>
                </a:solidFill>
                <a:latin typeface="Plus Jakarta Sans"/>
              </a:defRPr>
            </a:pPr>
            <a:r>
              <a:t>Files Modified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8C"/>
                </a:solidFill>
                <a:latin typeface="Plus Jakarta Sans"/>
              </a:defRPr>
            </a:pPr>
            <a:r>
              <a:t>All frontend pages and shared styles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097280"/>
            <a:ext cx="34747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59" y="1097280"/>
            <a:ext cx="3474720" cy="54864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188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52C41A"/>
                </a:solidFill>
                <a:latin typeface="Plus Jakarta Sans"/>
              </a:defRPr>
            </a:pPr>
            <a: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64591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62626"/>
                </a:solidFill>
                <a:latin typeface="Plus Jakarta Sans"/>
              </a:defRPr>
            </a:pPr>
            <a:r>
              <a:t>Critical Bugs Fixed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920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8C"/>
                </a:solidFill>
                <a:latin typeface="Plus Jakarta Sans"/>
              </a:defRPr>
            </a:pPr>
            <a:r>
              <a:t>Overflow, responsive, validation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097280"/>
            <a:ext cx="34747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097280"/>
            <a:ext cx="3474720" cy="54864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188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890FF"/>
                </a:solidFill>
                <a:latin typeface="Plus Jakarta Sans"/>
              </a:defRPr>
            </a:pPr>
            <a:r>
              <a:t>20+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64591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62626"/>
                </a:solidFill>
                <a:latin typeface="Plus Jakarta Sans"/>
              </a:defRPr>
            </a:pPr>
            <a:r>
              <a:t>UI Improvements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1920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8C"/>
                </a:solidFill>
                <a:latin typeface="Plus Jakarta Sans"/>
              </a:defRPr>
            </a:pPr>
            <a:r>
              <a:t>Tokens, polish, animations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743200"/>
            <a:ext cx="34747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2743200"/>
            <a:ext cx="3474720" cy="54864"/>
          </a:xfrm>
          <a:prstGeom prst="rect">
            <a:avLst/>
          </a:prstGeom>
          <a:solidFill>
            <a:srgbClr val="722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2834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22ED1"/>
                </a:solidFill>
                <a:latin typeface="Plus Jakarta Sans"/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291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62626"/>
                </a:solidFill>
                <a:latin typeface="Plus Jakarta Sans"/>
              </a:defRPr>
            </a:pPr>
            <a:r>
              <a:t>New Animations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566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8C"/>
                </a:solidFill>
                <a:latin typeface="Plus Jakarta Sans"/>
              </a:defRPr>
            </a:pPr>
            <a:r>
              <a:t>fadeInUp, fadeIn, dotBounce, shimmer, pulseGlow, blink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59" y="2743200"/>
            <a:ext cx="34747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80559" y="2743200"/>
            <a:ext cx="3474720" cy="54864"/>
          </a:xfrm>
          <a:prstGeom prst="rect">
            <a:avLst/>
          </a:prstGeom>
          <a:solidFill>
            <a:srgbClr val="FA8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20" y="2834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A8C16"/>
                </a:solidFill>
                <a:latin typeface="Plus Jakarta Sans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3291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62626"/>
                </a:solidFill>
                <a:latin typeface="Plus Jakarta Sans"/>
              </a:defRPr>
            </a:pPr>
            <a:r>
              <a:t>Breakpoints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3566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8C"/>
                </a:solidFill>
                <a:latin typeface="Plus Jakarta Sans"/>
              </a:defRPr>
            </a:pPr>
            <a:r>
              <a:t>375px to 1440px+ responsive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2743200"/>
            <a:ext cx="34747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0" y="2743200"/>
            <a:ext cx="3474720" cy="54864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2834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52C41A"/>
                </a:solidFill>
                <a:latin typeface="Plus Jakarta Sans"/>
              </a:defRPr>
            </a:pPr>
            <a:r>
              <a:t>100%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3291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62626"/>
                </a:solidFill>
                <a:latin typeface="Plus Jakarta Sans"/>
              </a:defRPr>
            </a:pPr>
            <a:r>
              <a:t>Pages Covered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3566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8C"/>
                </a:solidFill>
                <a:latin typeface="Plus Jakarta Sans"/>
              </a:defRPr>
            </a:pPr>
            <a:r>
              <a:t>Login, Chat, Profile, History, KB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754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62626"/>
                </a:solidFill>
                <a:latin typeface="Plus Jakarta Sans"/>
              </a:defRPr>
            </a:pPr>
            <a:r>
              <a:t>Modified Files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12064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62626"/>
                </a:solidFill>
                <a:latin typeface="Plus Jakarta Sans"/>
              </a:defRPr>
            </a:pPr>
            <a:r>
              <a:t>1. index.html — Plus Jakarta Sans Google Font</a:t>
            </a:r>
          </a:p>
          <a:p>
            <a:pPr>
              <a:spcAft>
                <a:spcPts val="300"/>
              </a:spcAft>
              <a:defRPr sz="1000">
                <a:solidFill>
                  <a:srgbClr val="262626"/>
                </a:solidFill>
                <a:latin typeface="Plus Jakarta Sans"/>
              </a:defRPr>
            </a:pPr>
            <a:r>
              <a:t>2. globals.css — Tokens, shadows, animations, responsive, scrollbar</a:t>
            </a:r>
          </a:p>
          <a:p>
            <a:pPr>
              <a:spcAft>
                <a:spcPts val="300"/>
              </a:spcAft>
              <a:defRPr sz="1000">
                <a:solidFill>
                  <a:srgbClr val="262626"/>
                </a:solidFill>
                <a:latin typeface="Plus Jakarta Sans"/>
              </a:defRPr>
            </a:pPr>
            <a:r>
              <a:t>3. ChatPage.tsx — Height fix, streaming scroll, input polish, thinking dots</a:t>
            </a:r>
          </a:p>
          <a:p>
            <a:pPr>
              <a:spcAft>
                <a:spcPts val="300"/>
              </a:spcAft>
              <a:defRPr sz="1000">
                <a:solidFill>
                  <a:srgbClr val="262626"/>
                </a:solidFill>
                <a:latin typeface="Plus Jakarta Sans"/>
              </a:defRPr>
            </a:pPr>
            <a:r>
              <a:t>4. MessageBubble.tsx — Overflow fixes, cursor, hover, entrance animation</a:t>
            </a:r>
          </a:p>
          <a:p>
            <a:pPr>
              <a:spcAft>
                <a:spcPts val="300"/>
              </a:spcAft>
              <a:defRPr sz="1000">
                <a:solidFill>
                  <a:srgbClr val="262626"/>
                </a:solidFill>
                <a:latin typeface="Plus Jakarta Sans"/>
              </a:defRPr>
            </a:pPr>
            <a:r>
              <a:t>5. WelcomeScreen.tsx — Premium card buttons, logo upgrade</a:t>
            </a:r>
          </a:p>
          <a:p>
            <a:pPr>
              <a:spcAft>
                <a:spcPts val="300"/>
              </a:spcAft>
              <a:defRPr sz="1000">
                <a:solidFill>
                  <a:srgbClr val="262626"/>
                </a:solidFill>
                <a:latin typeface="Plus Jakarta Sans"/>
              </a:defRPr>
            </a:pPr>
            <a:r>
              <a:t>6. AppLayout.tsx — Sider breakpoint, header, email truncation, dark toggle</a:t>
            </a:r>
          </a:p>
          <a:p>
            <a:pPr>
              <a:spcAft>
                <a:spcPts val="300"/>
              </a:spcAft>
              <a:defRPr sz="1000">
                <a:solidFill>
                  <a:srgbClr val="262626"/>
                </a:solidFill>
                <a:latin typeface="Plus Jakarta Sans"/>
              </a:defRPr>
            </a:pPr>
            <a:r>
              <a:t>7. useTheme.ts — Token refinement (borderRadius 10, controlHeight 42)</a:t>
            </a:r>
          </a:p>
          <a:p>
            <a:pPr>
              <a:spcAft>
                <a:spcPts val="300"/>
              </a:spcAft>
              <a:defRPr sz="1000">
                <a:solidFill>
                  <a:srgbClr val="262626"/>
                </a:solidFill>
                <a:latin typeface="Plus Jakarta Sans"/>
              </a:defRPr>
            </a:pPr>
            <a:r>
              <a:t>8. App.tsx — Login responsive, brand panel polish, submit hover</a:t>
            </a:r>
          </a:p>
          <a:p>
            <a:pPr>
              <a:spcAft>
                <a:spcPts val="300"/>
              </a:spcAft>
              <a:defRPr sz="1000">
                <a:solidFill>
                  <a:srgbClr val="262626"/>
                </a:solidFill>
                <a:latin typeface="Plus Jakarta Sans"/>
              </a:defRPr>
            </a:pPr>
            <a:r>
              <a:t>9. KnowledgeBasePage.tsx — Table scroll, upload validation, delete confirm, empty state</a:t>
            </a:r>
          </a:p>
          <a:p>
            <a:pPr>
              <a:spcAft>
                <a:spcPts val="300"/>
              </a:spcAft>
              <a:defRPr sz="1000">
                <a:solidFill>
                  <a:srgbClr val="262626"/>
                </a:solidFill>
                <a:latin typeface="Plus Jakarta Sans"/>
              </a:defRPr>
            </a:pPr>
            <a:r>
              <a:t>10. ProfilePage.tsx — Responsive maxWidth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937760" y="1645920"/>
            <a:ext cx="2286000" cy="914400"/>
          </a:xfrm>
          <a:prstGeom prst="round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262626"/>
                </a:solidFill>
              </a:defRPr>
            </a:pPr>
            <a:r>
              <a:t>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445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Plus Jakarta Sans"/>
              </a:defRPr>
            </a:pPr>
            <a:r>
              <a:t>UI Premium Optimization 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566160"/>
            <a:ext cx="7616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6A6A6"/>
                </a:solidFill>
                <a:latin typeface="Plus Jakarta Sans"/>
              </a:defRPr>
            </a:pPr>
            <a:r>
              <a:t>All pages optimized with premium typography, refined design tokens,</a:t>
            </a:r>
            <a:br/>
            <a:r>
              <a:t>responsive layouts, and subtle micro-interactions.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572000"/>
            <a:ext cx="5788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C8C8C"/>
                </a:solidFill>
                <a:latin typeface="Plus Jakarta Sans"/>
              </a:defRPr>
            </a:pPr>
            <a:r>
              <a:t>Report generated: 2026-06-19 00:18  |  Screenshots: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