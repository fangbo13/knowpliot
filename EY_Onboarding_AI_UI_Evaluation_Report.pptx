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00033"/>
                </a:solidFill>
              </a:defRPr>
            </a:pPr>
            <a:r>
              <a:t>EY Onboarding AI</a:t>
            </a:r>
          </a:p>
          <a:p>
            <a:pPr>
              <a:defRPr sz="3200">
                <a:solidFill>
                  <a:srgbClr val="FFFFFF"/>
                </a:solidFill>
              </a:defRPr>
            </a:pPr>
            <a:r>
              <a:t>Chatbot UI 综合测评报告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CCCCC"/>
                </a:solidFill>
              </a:defRPr>
            </a:pPr>
            <a:r>
              <a:t>视觉设计 · 交互体验 · 功能测试 · 性能分析 · 跨端兼容 · 安全性 · 边界异常</a:t>
            </a:r>
          </a:p>
          <a:p>
            <a:br/>
            <a:pPr>
              <a:defRPr sz="1300">
                <a:solidFill>
                  <a:srgbClr val="888888"/>
                </a:solidFill>
              </a:defRPr>
            </a:pPr>
            <a:r>
              <a:t>测评日期: 2026-06-18  |  版本: Version_1  |  工具: Playwright +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报告结构概览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测评概述 — 测试范围、方法与环境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七维度评分总览 — 雷达图与评分分析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视觉与设计 — 品牌一致性、色彩、排版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4. 交互与可用性 — 操作流程、反馈、快捷键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5. 功能测试 — 登录、聊天、引用、历史记录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6. 性能分析 — 加载时间、响应时间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7. 跨端兼容性 — 桌面/平板/手机响应式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8. 边界与异常 — 空输入、超长输入、错误处理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9. 安全性 — 认证、授权、XSS防护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10. 问题汇总与改进建议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11. 优点总结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测评概述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测试范围、方法与运行环境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测试范围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覆盖 5 个页面: 登录、聊天、历史记录、Profile、知识库管理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测试 6 个快捷操作按钮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SSE 流式响应过程观察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响应式布局: 1920px / 1280px / 768px / 375px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边界测试: 空输入、超长输入 (4000 字符)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安全性: 路由保护、Token 存储、硬编码凭据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运行环境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前端: React 18 + Ant Design 5 + Vite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后端: Django 5 + DRF + Celery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数据库: PostgreSQL (pgvector)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LLM: Qwen via DashScope API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测试工具: Playwright 1.60 + Edge (headless)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截图: 16 张高清截图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性能数据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登录页加载: 2.449s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登录到聊天页: 3.211s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七维度评分总览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满分 10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视觉与设计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990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399032"/>
            <a:ext cx="3520440" cy="2286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53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交互与可用性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856231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856231"/>
            <a:ext cx="4023360" cy="22860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功能完整性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3134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2313432"/>
            <a:ext cx="3520440" cy="2286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267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7/10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性能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7706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2770632"/>
            <a:ext cx="3017520" cy="2286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7249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跨端兼容性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2278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26080" y="3227832"/>
            <a:ext cx="3520440" cy="2286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7/10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边界与异常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36850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26080" y="3685032"/>
            <a:ext cx="3017520" cy="2286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639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6/10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安全性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142232"/>
            <a:ext cx="5029200" cy="22860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0" y="4142232"/>
            <a:ext cx="2514600" cy="228600"/>
          </a:xfrm>
          <a:prstGeom prst="round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40965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5/10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0033"/>
                </a:solidFill>
              </a:defRPr>
            </a:pPr>
            <a:r>
              <a:t>综合评分: 6.6/10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评分说明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8-10: 优秀，功能完善，体验流畅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6-7:  良好，基本功能正常，有改进空间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4-5:  一般，存在明显短板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1-3:  较差，需要重点优化</a:t>
            </a:r>
          </a:p>
        </p:txBody>
      </p:sp>
      <p:pic>
        <p:nvPicPr>
          <p:cNvPr id="36" name="Picture 35" descr="03_welc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5029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视觉与设计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7/10 — 品牌一致，但样式管理待优化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C41A"/>
                </a:solidFill>
              </a:defRPr>
            </a:pPr>
            <a:r>
              <a:t>✓ 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EY 品牌红色 (#E00033) 贯穿登录页标题、用户消息气泡、发送按钮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使用 Ant Design 5 组件库，视觉风格统一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圆角统一为 6px (borderRadius token)，视觉和谐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用户消息 (红色右对齐) 与 AI 消息 (白色左对齐) 视觉区分清晰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Markdown 富文本渲染 (react-markdown)，支持粗体、列表、链接等格式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自定义滚动条样式，细节打磨到位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AD14"/>
                </a:solidFill>
              </a:defRPr>
            </a:pPr>
            <a:r>
              <a:t>⚠ 改进建议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全部使用内联 style={{}} 对象，缺乏 CSS 架构 (无 CSS Modules/Styled Components)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不支持暗色模式，对暗色主题用户不友好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缺少响应式字体大小调整 (font-size 固定)</a:t>
            </a:r>
          </a:p>
        </p:txBody>
      </p:sp>
      <p:pic>
        <p:nvPicPr>
          <p:cNvPr id="9" name="Picture 8" descr="14_responsive_1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交互与可用性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8/10 — 操作流畅，反馈及时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C41A"/>
                </a:solidFill>
              </a:defRPr>
            </a:pPr>
            <a:r>
              <a:t>✓ 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登录失败显示明确的错误提示 (红色边框 + 文字)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登录成功后自动跳转到 /chat 页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6 个快捷操作按钮，覆盖 IT Setup / Reimbursement / Annual Leave / Training / Office / Buddy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新消息到达时自动滚动到底部 (scrollIntoView)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SSE 流式响应 + 闪烁光标动画，实时反馈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输入框字符计数 (showCount) + maxLength=4000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空输入时发送按钮自动禁用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流式期间输入框禁用，防止重复发送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AD14"/>
                </a:solidFill>
              </a:defRPr>
            </a:pPr>
            <a:r>
              <a:t>⚠ 改进建议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缺少「停止生成」按钮 — 用户无法中断 AI 响应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缺少消息「复制」按钮 — 需要手动选择文本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缺少消息「重新生成」功能</a:t>
            </a:r>
          </a:p>
        </p:txBody>
      </p:sp>
      <p:pic>
        <p:nvPicPr>
          <p:cNvPr id="9" name="Picture 8" descr="03_welc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功能测试 — 登录与聊天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C41A"/>
                </a:solidFill>
              </a:defRPr>
            </a:pPr>
            <a:r>
              <a:t>✓ 功能正常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JWT 认证登录 — Token 获取 + 用户信息加载正常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SSE 流式响应 — 服务器逐 token 推送，前端实时渲染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来源引用系统 — 每条 AI 响应附带文档来源卡片 (标题/页码/相关度)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会话管理 — 创建/切换/历史会话正常 (25 个历史会话)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侧边栏导航 — Chat / History / Knowledge Base / Profile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知识库管理 (Admin) — 文档列表、上传、重新索引、删除功能完整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路由保护 — 未认证用户自动重定向到登录页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AD14"/>
                </a:solidFill>
              </a:defRPr>
            </a:pPr>
            <a:r>
              <a:t>⚠ 待验证/改进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国际化 (i18n) — 翻译文件已加载但未在组件中调用 useTranslation()，中英切换可能无效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消息反馈 (Feedback) — 后端有 /feedback/ 接口，前端未展示反馈按钮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会话删除 — 后端有 DELETE 接口，前端未展示删除按钮</a:t>
            </a:r>
          </a:p>
        </p:txBody>
      </p:sp>
      <p:pic>
        <p:nvPicPr>
          <p:cNvPr id="9" name="Picture 8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2560320" cy="2286000"/>
          </a:xfrm>
          <a:prstGeom prst="rect">
            <a:avLst/>
          </a:prstGeom>
        </p:spPr>
      </p:pic>
      <p:pic>
        <p:nvPicPr>
          <p:cNvPr id="10" name="Picture 9" descr="07_action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371600"/>
            <a:ext cx="2560320" cy="2286000"/>
          </a:xfrm>
          <a:prstGeom prst="rect">
            <a:avLst/>
          </a:prstGeom>
        </p:spPr>
      </p:pic>
      <p:pic>
        <p:nvPicPr>
          <p:cNvPr id="11" name="Picture 10" descr="16_responsive_768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4048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功能测试 — 各页面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5 个主要页面功能正常</a:t>
            </a:r>
          </a:p>
        </p:txBody>
      </p:sp>
      <p:pic>
        <p:nvPicPr>
          <p:cNvPr id="5" name="Picture 4" descr="09_history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74720" cy="2743200"/>
          </a:xfrm>
          <a:prstGeom prst="rect">
            <a:avLst/>
          </a:prstGeom>
        </p:spPr>
      </p:pic>
      <p:pic>
        <p:nvPicPr>
          <p:cNvPr id="6" name="Picture 5" descr="10_profile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474720" cy="2743200"/>
          </a:xfrm>
          <a:prstGeom prst="rect">
            <a:avLst/>
          </a:prstGeom>
        </p:spPr>
      </p:pic>
      <p:pic>
        <p:nvPicPr>
          <p:cNvPr id="7" name="Picture 6" descr="11_knowledge_p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4747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历史记录页 (History)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显示 25 个历史会话</a:t>
            </a:r>
            <a:br/>
            <a:r>
              <a:t>• 标题 + 日期</a:t>
            </a:r>
            <a:br/>
            <a:r>
              <a:t>• 点击恢复会话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用户设置页 (Profile)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邮箱显示 (只读)</a:t>
            </a:r>
            <a:br/>
            <a:r>
              <a:t>• 语言偏好选择 (English/Chinese)</a:t>
            </a:r>
            <a:br/>
            <a:r>
              <a:t>• 表单提交反馈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知识库管理页 (Admin)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80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• 文档表格 (标题/分类/状态/创建时间)</a:t>
            </a:r>
            <a:br/>
            <a:r>
              <a:t>• 上传/重新索引/删除</a:t>
            </a:r>
            <a:br/>
            <a:r>
              <a:t>• 分页功能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性能分析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6/10 — 基本流畅，有优化空间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性能测量数据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00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测量值</a:t>
                      </a:r>
                    </a:p>
                  </a:txBody>
                  <a:tcPr>
                    <a:solidFill>
                      <a:srgbClr val="E00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E00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登录页加载 (LCP)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2.449s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良好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登录到聊天页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3.211s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良好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0033"/>
                </a:solidFill>
              </a:defRPr>
            </a:pPr>
            <a:r>
              <a:t>性能分析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首屏加载 2.4s — 可接受但未达理想 (&lt;1.5s)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登录跳转 3.2s — JWT 两次请求 + 页面渲染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Ant Design 5 全量引入，未做 tree-shaking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未使用 React.lazy/Suspense 路由级代码分割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未配置资源预加载 (preload/prefetch)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✓ 性能优点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SSE 流式响应 — 首 token 快速到达，用户无需等待完整响应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Vite HMR 热更新 — 开发体验流畅</a:t>
            </a:r>
          </a:p>
        </p:txBody>
      </p:sp>
      <p:pic>
        <p:nvPicPr>
          <p:cNvPr id="11" name="Picture 10" descr="15_responsive_1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跨端兼容性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7/10 — 响应式良好，缺少 PWA</a:t>
            </a:r>
          </a:p>
        </p:txBody>
      </p:sp>
      <p:pic>
        <p:nvPicPr>
          <p:cNvPr id="5" name="Picture 4" descr="16_responsive_76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560320" cy="2743200"/>
          </a:xfrm>
          <a:prstGeom prst="rect">
            <a:avLst/>
          </a:prstGeom>
        </p:spPr>
      </p:pic>
      <p:pic>
        <p:nvPicPr>
          <p:cNvPr id="6" name="Picture 5" descr="05_welcome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560320" cy="2743200"/>
          </a:xfrm>
          <a:prstGeom prst="rect">
            <a:avLst/>
          </a:prstGeom>
        </p:spPr>
      </p:pic>
      <p:pic>
        <p:nvPicPr>
          <p:cNvPr id="7" name="Picture 6" descr="16_responsive_76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2560320" cy="2743200"/>
          </a:xfrm>
          <a:prstGeom prst="rect">
            <a:avLst/>
          </a:prstGeom>
        </p:spPr>
      </p:pic>
      <p:pic>
        <p:nvPicPr>
          <p:cNvPr id="8" name="Picture 7" descr="14_responsive_19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71600"/>
            <a:ext cx="301752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平板 768px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手机 375px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平板聊天 768px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206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桌面 1920px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✓ 侧边栏 breakpoint='lg' — 平板下自动折叠为图标模式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✓ 欢迎页 Grid: xs=24 / sm=12 / md=8 — 响应式列数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✓ 快捷按钮在移动端自动变为全宽单列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✓ 聊天消息区域自适应不同宽度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⚠ 缺少 PWA 支持 (无 Service Worker)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⚠ 未做移动端触摸优化 (无 tap-highlight 处理)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边界与异常处理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6/10 — 基本防护到位，细节待完善</a:t>
            </a:r>
          </a:p>
        </p:txBody>
      </p:sp>
      <p:pic>
        <p:nvPicPr>
          <p:cNvPr id="5" name="Picture 4" descr="02_logi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6576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✓ 已实现的防护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空输入时发送按钮禁用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maxLength=4000 字符限制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字数统计显示 (showCount)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登录错误提示清晰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⚠ 缺失的处理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02336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SSE 连接中断后无用户提示 (仅 console.log)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后端 500 错误时无友好错误页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网络断开时无离线提示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快速连点发送按钮无防抖处理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未定义全局错误边界 (Error Boundary)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安全性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评分: 5/10 — 基础认证完善，存在安全隐患</a:t>
            </a:r>
          </a:p>
        </p:txBody>
      </p:sp>
      <p:pic>
        <p:nvPicPr>
          <p:cNvPr id="5" name="Picture 4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743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2C41A"/>
                </a:solidFill>
              </a:defRPr>
            </a:pPr>
            <a:r>
              <a:t>✓ 安全措施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JWT Token 认证 (access + refresh)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路由保护 — 未认证自动重定向到登录页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CORS 配置 — 限制允许的来源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后端 Guardrails — prompt injection 检测 (guardrails.py)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Token 黑名单机制 — 登出后 token 失效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⚠ 安全隐患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4805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登录页硬编码 demo 凭据 (admin@ey.com / admin123) — 生产环境严重风险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JWT Token 存储于 localStorage — XSS 攻击可窃取 token，建议改用 httpOnly cookie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ReactMarkdown 未配置 allowedComponents — 可能渲染不安全的 HTML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密码明文显示在 input[type='password'] — 登录页直接显示预填密码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问题汇总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按严重程度排列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🔴 中等风险 (需尽快处理)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🟠 [安全性] 硬编码 demo 凭据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   登录页预填了账号(admin@ey.com)和密码，生产环境存在安全风险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🟠 [安全性] Token 存储于 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   JWT Token 存储在浏览器 localStorage，XSS 攻击可能窃取。建议使用 httpOnly cookie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🟠 [视觉设计] 样式全部为内联样式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   所有组件使用内联 style={{}} 对象，缺乏 CSS 架构，维护困难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AD14"/>
                </a:solidFill>
              </a:defRPr>
            </a:pPr>
            <a:r>
              <a:t>🟡 建议 (可后续优化)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[视觉设计] 不支持暗色模式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[交互可用性] 缺少停止生成按钮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199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[交互可用性] 缺少消息复制按钮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[交互可用性] 缺少消息重新生成按钮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[功能测试] 国际化未实际使用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1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[性能] 缺少代码分割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[性能] 依赖包体积较大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19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[跨端兼容] 缺少 PWA 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[边界测试] 缺少网络断开处理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8122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[边界测试] 缺少 404/500 错误页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13231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• [安全性] ReactMarkdown 未限制组件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改进建议与优先级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按影响/投入排序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57200" cy="320040"/>
          </a:xfrm>
          <a:prstGeom prst="round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533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移除硬编码 demo 凭据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登录页不应预填真实账号密码，应使用环境变量配置  (投入: 低)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457200" cy="320040"/>
          </a:xfrm>
          <a:prstGeom prst="round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47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Token 改用 httpOnly cookie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localStorage 存储 JWT 有 XSS 风险，改用 httpOnly cookie 更安全  (投入: 中)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457200" cy="32004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420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启用国际化 (useTranslation)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组件中调用 useTranslation() 以真正支持中英双语  (投入: 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457200" cy="32004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363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添加代码分割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37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使用 React.lazy + Suspense 对路由进行代码分割  (投入: 低)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457200" cy="32004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307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添加停止生成/复制/重新生成按钮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31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提升聊天交互体验  (投入: 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457200" cy="32004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251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完善错误边界和离线处理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26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添加 Error Boundary、网络断开提示、SSE 中断恢复  (投入: 中)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37760"/>
            <a:ext cx="457200" cy="32004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194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CSS 架构优化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将内联样式迁移到 CSS Modules 或 Styled Components  (投入: 高)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32120"/>
            <a:ext cx="457200" cy="32004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138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添加暗色模式支持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15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使用 Ant Design 的暗色主题 token  (投入: 中)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0033"/>
                </a:solidFill>
              </a:defRPr>
            </a:pPr>
            <a:r>
              <a:t>优点总结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99999"/>
                </a:solidFill>
              </a:defRPr>
            </a:pPr>
            <a:r>
              <a:t>共发现 14 项优点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▎交互可用性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错误提示清晰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登录跳转正确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599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快捷操作完整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1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自动滚动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▎功能测试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历史记录功能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流式打字光标动画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19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引用系统完善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1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知识库管理功能完整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19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▎安全性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5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路由保护完善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Guardrails 注入防护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SSE 流式响应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▎视觉设计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766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侧边栏导航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7040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Markdown 渲染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452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0033"/>
                </a:solidFill>
              </a:defRPr>
            </a:pPr>
            <a:r>
              <a:t>▎跨端兼容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7818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✓ 侧边栏自适应</a:t>
            </a:r>
          </a:p>
        </p:txBody>
      </p:sp>
      <p:pic>
        <p:nvPicPr>
          <p:cNvPr id="25" name="Picture 24" descr="08_side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572000" cy="2743200"/>
          </a:xfrm>
          <a:prstGeom prst="rect">
            <a:avLst/>
          </a:prstGeom>
        </p:spPr>
      </p:pic>
      <p:pic>
        <p:nvPicPr>
          <p:cNvPr id="26" name="Picture 25" descr="12_message_bub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9768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0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感谢阅读</a:t>
            </a:r>
          </a:p>
          <a:p>
            <a:pPr algn="ctr">
              <a:defRPr sz="2000">
                <a:solidFill>
                  <a:srgbClr val="999999"/>
                </a:solidFill>
              </a:defRPr>
            </a:pPr>
            <a:r>
              <a:t>EY Onboarding AI — UI 综合测评报告</a:t>
            </a:r>
          </a:p>
          <a:p>
            <a:br/>
            <a:pPr algn="ctr">
              <a:defRPr sz="1400">
                <a:solidFill>
                  <a:srgbClr val="666666"/>
                </a:solidFill>
              </a:defRPr>
            </a:pPr>
            <a:r>
              <a:t>测评工具: Playwright + python-pptx  |  截图: 16 张  |  发现: 28 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